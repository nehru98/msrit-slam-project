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7" r:id="rId9"/>
    <p:sldId id="273" r:id="rId10"/>
    <p:sldId id="268" r:id="rId11"/>
    <p:sldId id="270" r:id="rId12"/>
    <p:sldId id="271" r:id="rId13"/>
    <p:sldId id="272" r:id="rId14"/>
    <p:sldId id="264" r:id="rId15"/>
    <p:sldId id="265" r:id="rId16"/>
    <p:sldId id="2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7" d="100"/>
          <a:sy n="67" d="100"/>
        </p:scale>
        <p:origin x="1296" y="4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E8E54-3A20-4E87-A311-4D0C2F5761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0E4678-DAFB-45B4-836C-9D03A1A4C4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53FA8E-613F-470D-A5D5-04AD74C29306}"/>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5" name="Footer Placeholder 4">
            <a:extLst>
              <a:ext uri="{FF2B5EF4-FFF2-40B4-BE49-F238E27FC236}">
                <a16:creationId xmlns:a16="http://schemas.microsoft.com/office/drawing/2014/main" id="{2F782EA9-90DD-4DB9-8704-40CD7FFC6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E3FBE2-993E-4977-99B1-093D0FFF8FA6}"/>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1863518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B88D-51BF-421B-B0CF-6349111EF85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918506-6F98-4D10-8E7A-ADCBAEEA4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E9EAD5-F153-4CC9-AB48-BE1BCD8596E5}"/>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5" name="Footer Placeholder 4">
            <a:extLst>
              <a:ext uri="{FF2B5EF4-FFF2-40B4-BE49-F238E27FC236}">
                <a16:creationId xmlns:a16="http://schemas.microsoft.com/office/drawing/2014/main" id="{8F53871F-8B18-498F-A47D-FDA2EE776B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33C30F-42FF-4EE1-B7C8-9783649792EA}"/>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3652730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24F3-43B7-4773-82B9-7C571D176E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978A5AD-346C-4E5A-A7D6-DC420DC3E1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514709-EB42-481E-8F5D-46A73D881D9A}"/>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5" name="Footer Placeholder 4">
            <a:extLst>
              <a:ext uri="{FF2B5EF4-FFF2-40B4-BE49-F238E27FC236}">
                <a16:creationId xmlns:a16="http://schemas.microsoft.com/office/drawing/2014/main" id="{4EE1D54E-7119-4866-92CE-2CBC95168E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473976-3AEA-4578-8EEC-E0684E03DB59}"/>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136915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C2675-7031-4A32-9D84-266854E45D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29FB22-5F2C-4E1A-B182-AED99FBEBC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A5706D8-B897-44F5-BB45-C38212B824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FC4DCD6-F651-4E94-BAE2-2AE35E8B3111}"/>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6" name="Footer Placeholder 5">
            <a:extLst>
              <a:ext uri="{FF2B5EF4-FFF2-40B4-BE49-F238E27FC236}">
                <a16:creationId xmlns:a16="http://schemas.microsoft.com/office/drawing/2014/main" id="{0876D979-8245-474E-99E2-AF2971F879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607C75-67C5-4581-B5EF-751213C6DEAA}"/>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266335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9DC65-73E3-4F61-BA36-338ADCE356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33D359-3A99-4842-8039-5E8DC93362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1734E-1B90-4BB1-B219-3983858051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15AB34-34DD-429A-9957-E69F336D4F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5F6965-8891-4A58-92CB-734B24BA81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8F14F30-3E3B-43DC-B20E-DFA6063A7DE8}"/>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8" name="Footer Placeholder 7">
            <a:extLst>
              <a:ext uri="{FF2B5EF4-FFF2-40B4-BE49-F238E27FC236}">
                <a16:creationId xmlns:a16="http://schemas.microsoft.com/office/drawing/2014/main" id="{216EB608-1C9D-4D41-8B81-E6535E392D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1BEDC4-0870-4D82-A9EC-C3FADED81AF3}"/>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3198229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7F399-762B-46CD-AEA0-2415F520025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83B0CC-55F6-4CEE-AD9B-53444C136B2D}"/>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4" name="Footer Placeholder 3">
            <a:extLst>
              <a:ext uri="{FF2B5EF4-FFF2-40B4-BE49-F238E27FC236}">
                <a16:creationId xmlns:a16="http://schemas.microsoft.com/office/drawing/2014/main" id="{37116E47-204F-4B69-B7CC-1146C2A0FB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058226-7CF7-43DB-926D-E94AB1A7F82E}"/>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2363416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9B72A9-BBAD-46A0-8F8D-C7F1611633A3}"/>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3" name="Footer Placeholder 2">
            <a:extLst>
              <a:ext uri="{FF2B5EF4-FFF2-40B4-BE49-F238E27FC236}">
                <a16:creationId xmlns:a16="http://schemas.microsoft.com/office/drawing/2014/main" id="{A2760803-FD4F-474B-9879-D9F00965CE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6CA5A8-4A48-433F-B60E-5F5EE59D14A5}"/>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3601190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80B04-B662-48EE-BEC1-FE91869A3A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358424-EFAA-44DB-9D87-731677AC18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00436F-70D5-4FEA-8672-BF3CC7C560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9AE7E4-D4FB-4791-B289-776887651F51}"/>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6" name="Footer Placeholder 5">
            <a:extLst>
              <a:ext uri="{FF2B5EF4-FFF2-40B4-BE49-F238E27FC236}">
                <a16:creationId xmlns:a16="http://schemas.microsoft.com/office/drawing/2014/main" id="{5B0DD5CD-A7E1-480B-A417-48580386FC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42AC25-3B26-4A31-BDFC-9D59FF0157FE}"/>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2263883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A627D-D4BE-45B5-B6AB-DABC81A958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2C32064-5A27-40F6-8A1B-6BC49521FA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A42784-6DB3-4AF4-833D-F30B104F3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215F0B-6717-4CB1-8A71-A135C3B3F0A6}"/>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6" name="Footer Placeholder 5">
            <a:extLst>
              <a:ext uri="{FF2B5EF4-FFF2-40B4-BE49-F238E27FC236}">
                <a16:creationId xmlns:a16="http://schemas.microsoft.com/office/drawing/2014/main" id="{E4B76653-7B7A-4A43-9069-D29895C5CF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87737B-0DB2-4775-9F72-925D2AB10B2E}"/>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654955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01F98-5F7F-40E9-9E13-CC054969B2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D70719-10C1-46DE-B06A-450101794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687457-A993-4868-A97A-061C7224F7EC}"/>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5" name="Footer Placeholder 4">
            <a:extLst>
              <a:ext uri="{FF2B5EF4-FFF2-40B4-BE49-F238E27FC236}">
                <a16:creationId xmlns:a16="http://schemas.microsoft.com/office/drawing/2014/main" id="{52FC5184-7018-4107-94D8-95AD36214C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9B93E8-8DF9-4D06-B06F-60BA6804D538}"/>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2140886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0E6CBD-F103-489D-896C-2CB23EE13E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667D99-DF4A-4E3D-8FBC-52DEDCBA25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05B9B9-AF0F-492C-A49D-F8C6B79AD4F0}"/>
              </a:ext>
            </a:extLst>
          </p:cNvPr>
          <p:cNvSpPr>
            <a:spLocks noGrp="1"/>
          </p:cNvSpPr>
          <p:nvPr>
            <p:ph type="dt" sz="half" idx="10"/>
          </p:nvPr>
        </p:nvSpPr>
        <p:spPr/>
        <p:txBody>
          <a:bodyPr/>
          <a:lstStyle/>
          <a:p>
            <a:fld id="{F0C7A539-2C5A-4DB9-9BB8-3C4C1F251BD1}" type="datetimeFigureOut">
              <a:rPr lang="en-IN" smtClean="0"/>
              <a:t>17-12-2021</a:t>
            </a:fld>
            <a:endParaRPr lang="en-IN"/>
          </a:p>
        </p:txBody>
      </p:sp>
      <p:sp>
        <p:nvSpPr>
          <p:cNvPr id="5" name="Footer Placeholder 4">
            <a:extLst>
              <a:ext uri="{FF2B5EF4-FFF2-40B4-BE49-F238E27FC236}">
                <a16:creationId xmlns:a16="http://schemas.microsoft.com/office/drawing/2014/main" id="{D793183E-D3D1-4C24-A8CF-8881111DF9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1908E4-5B99-4259-AC42-330472FA789F}"/>
              </a:ext>
            </a:extLst>
          </p:cNvPr>
          <p:cNvSpPr>
            <a:spLocks noGrp="1"/>
          </p:cNvSpPr>
          <p:nvPr>
            <p:ph type="sldNum" sz="quarter" idx="12"/>
          </p:nvPr>
        </p:nvSpPr>
        <p:spPr/>
        <p:txBody>
          <a:bodyPr/>
          <a:lstStyle/>
          <a:p>
            <a:fld id="{D554DF30-0836-4924-8A86-59E5C9442910}" type="slidenum">
              <a:rPr lang="en-IN" smtClean="0"/>
              <a:t>‹#›</a:t>
            </a:fld>
            <a:endParaRPr lang="en-IN"/>
          </a:p>
        </p:txBody>
      </p:sp>
    </p:spTree>
    <p:extLst>
      <p:ext uri="{BB962C8B-B14F-4D97-AF65-F5344CB8AC3E}">
        <p14:creationId xmlns:p14="http://schemas.microsoft.com/office/powerpoint/2010/main" val="206258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C89416-7C1A-45C9-BEB3-91B3CAC0C4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6E1015-7671-4227-BFD7-99826CD3DC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374AF8-F5A2-4696-87A2-FCCF35567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C7A539-2C5A-4DB9-9BB8-3C4C1F251BD1}" type="datetimeFigureOut">
              <a:rPr lang="en-IN" smtClean="0"/>
              <a:t>17-12-2021</a:t>
            </a:fld>
            <a:endParaRPr lang="en-IN"/>
          </a:p>
        </p:txBody>
      </p:sp>
      <p:sp>
        <p:nvSpPr>
          <p:cNvPr id="5" name="Footer Placeholder 4">
            <a:extLst>
              <a:ext uri="{FF2B5EF4-FFF2-40B4-BE49-F238E27FC236}">
                <a16:creationId xmlns:a16="http://schemas.microsoft.com/office/drawing/2014/main" id="{EDCA2F81-EAA4-47AA-AAEF-0654446954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8008CA-11FE-4EC0-AF91-33A593ABAA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54DF30-0836-4924-8A86-59E5C9442910}" type="slidenum">
              <a:rPr lang="en-IN" smtClean="0"/>
              <a:t>‹#›</a:t>
            </a:fld>
            <a:endParaRPr lang="en-IN"/>
          </a:p>
        </p:txBody>
      </p:sp>
    </p:spTree>
    <p:extLst>
      <p:ext uri="{BB962C8B-B14F-4D97-AF65-F5344CB8AC3E}">
        <p14:creationId xmlns:p14="http://schemas.microsoft.com/office/powerpoint/2010/main" val="764912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pyimagesearch.com/2021/02/01/opencv-histogram-equalization-and-adaptive-histogram-equalization-clahe/" TargetMode="External"/><Relationship Id="rId2" Type="http://schemas.openxmlformats.org/officeDocument/2006/relationships/slide" Target="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pyimagesearch.com/2021/02/01/opencv-histogram-equalization-and-adaptive-histogram-equalization-clahe/" TargetMode="External"/><Relationship Id="rId7" Type="http://schemas.openxmlformats.org/officeDocument/2006/relationships/image" Target="../media/image3.png"/><Relationship Id="rId2" Type="http://schemas.openxmlformats.org/officeDocument/2006/relationships/slide" Target="slide5.xml"/><Relationship Id="rId1" Type="http://schemas.openxmlformats.org/officeDocument/2006/relationships/slideLayout" Target="../slideLayouts/slideLayout2.xml"/><Relationship Id="rId6" Type="http://schemas.openxmlformats.org/officeDocument/2006/relationships/hyperlink" Target="https://ai.googleblog.com/2021/02/3d-scene-understanding-with-tensorflow.html" TargetMode="External"/><Relationship Id="rId5" Type="http://schemas.openxmlformats.org/officeDocument/2006/relationships/hyperlink" Target="https://ai.facebook.com/blog/recognizing-3d-spaces-without-spatial-labels/" TargetMode="External"/><Relationship Id="rId4" Type="http://schemas.openxmlformats.org/officeDocument/2006/relationships/hyperlink" Target="https://scikitimage.org/docs/dev/auto_examples/features_detection/plot_blob.html#sphx-glr-download-auto-examples-features-detection-plot-blob-py"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E41B-5B71-49C8-B4E0-1256ACE176A7}"/>
              </a:ext>
            </a:extLst>
          </p:cNvPr>
          <p:cNvSpPr>
            <a:spLocks noGrp="1"/>
          </p:cNvSpPr>
          <p:nvPr>
            <p:ph type="ctrTitle"/>
          </p:nvPr>
        </p:nvSpPr>
        <p:spPr>
          <a:xfrm>
            <a:off x="1524000" y="1122363"/>
            <a:ext cx="9144000" cy="1825023"/>
          </a:xfrm>
        </p:spPr>
        <p:txBody>
          <a:bodyPr>
            <a:normAutofit/>
          </a:bodyPr>
          <a:lstStyle/>
          <a:p>
            <a:r>
              <a:rPr lang="en-US" sz="4000" dirty="0">
                <a:latin typeface="Times New Roman" panose="02020603050405020304" pitchFamily="18" charset="0"/>
                <a:cs typeface="Times New Roman" panose="02020603050405020304" pitchFamily="18" charset="0"/>
              </a:rPr>
              <a:t>M.TECH MAJOR PROJECT REVIEW 1</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(MVE33)</a:t>
            </a: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8C46078-ACB5-41BF-869F-ECF95E8DBB72}"/>
              </a:ext>
            </a:extLst>
          </p:cNvPr>
          <p:cNvSpPr>
            <a:spLocks noGrp="1"/>
          </p:cNvSpPr>
          <p:nvPr>
            <p:ph type="subTitle" idx="1"/>
          </p:nvPr>
        </p:nvSpPr>
        <p:spPr>
          <a:xfrm>
            <a:off x="840420" y="3222594"/>
            <a:ext cx="10511160" cy="2894121"/>
          </a:xfrm>
        </p:spPr>
        <p:txBody>
          <a:bodyPr>
            <a:normAutofit fontScale="92500" lnSpcReduction="10000"/>
          </a:bodyPr>
          <a:lstStyle/>
          <a:p>
            <a:r>
              <a:rPr lang="en-US" sz="3000" u="sng" dirty="0">
                <a:latin typeface="Times New Roman" panose="02020603050405020304" pitchFamily="18" charset="0"/>
                <a:cs typeface="Times New Roman" panose="02020603050405020304" pitchFamily="18" charset="0"/>
              </a:rPr>
              <a:t>A SLAM BASED AUGMENTED REALITY (AR) DESIGN</a:t>
            </a:r>
          </a:p>
          <a:p>
            <a:r>
              <a:rPr lang="en-US" dirty="0">
                <a:latin typeface="Times New Roman" panose="02020603050405020304" pitchFamily="18" charset="0"/>
                <a:cs typeface="Times New Roman" panose="02020603050405020304" pitchFamily="18" charset="0"/>
              </a:rPr>
              <a:t>Under the guidance of : Dr. Reshma Verma (Asst. Professor)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Name: Nehru H </a:t>
            </a:r>
          </a:p>
          <a:p>
            <a:r>
              <a:rPr lang="en-US" dirty="0">
                <a:latin typeface="Times New Roman" panose="02020603050405020304" pitchFamily="18" charset="0"/>
                <a:cs typeface="Times New Roman" panose="02020603050405020304" pitchFamily="18" charset="0"/>
              </a:rPr>
              <a:t>USN: 1MS20LVS08</a:t>
            </a:r>
          </a:p>
          <a:p>
            <a:r>
              <a:rPr lang="en-US" dirty="0">
                <a:latin typeface="Times New Roman" panose="02020603050405020304" pitchFamily="18" charset="0"/>
                <a:cs typeface="Times New Roman" panose="02020603050405020304" pitchFamily="18" charset="0"/>
              </a:rPr>
              <a:t>Specialization: VLSI Design and Embedded Systems</a:t>
            </a:r>
          </a:p>
          <a:p>
            <a:r>
              <a:rPr lang="en-US" dirty="0">
                <a:latin typeface="Times New Roman" panose="02020603050405020304" pitchFamily="18" charset="0"/>
                <a:cs typeface="Times New Roman" panose="02020603050405020304" pitchFamily="18" charset="0"/>
              </a:rPr>
              <a:t>Date: 17-Dec-2021</a:t>
            </a:r>
          </a:p>
          <a:p>
            <a:endParaRPr lang="en-US"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11172A3D-1997-4952-90E3-C393AF7AFFEE}"/>
              </a:ext>
            </a:extLst>
          </p:cNvPr>
          <p:cNvPicPr>
            <a:picLocks noChangeAspect="1"/>
          </p:cNvPicPr>
          <p:nvPr/>
        </p:nvPicPr>
        <p:blipFill>
          <a:blip r:embed="rId2"/>
          <a:stretch>
            <a:fillRect/>
          </a:stretch>
        </p:blipFill>
        <p:spPr>
          <a:xfrm>
            <a:off x="9268288" y="236148"/>
            <a:ext cx="2622657" cy="886215"/>
          </a:xfrm>
          <a:prstGeom prst="rect">
            <a:avLst/>
          </a:prstGeom>
        </p:spPr>
      </p:pic>
    </p:spTree>
    <p:extLst>
      <p:ext uri="{BB962C8B-B14F-4D97-AF65-F5344CB8AC3E}">
        <p14:creationId xmlns:p14="http://schemas.microsoft.com/office/powerpoint/2010/main" val="2716699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613B-21A2-407D-8115-B420F3DEA424}"/>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INTRODUCTION</a:t>
            </a:r>
            <a:endParaRPr lang="en-IN" sz="36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42B765A-F471-4A8B-978E-983F101A6DA2}"/>
              </a:ext>
            </a:extLst>
          </p:cNvPr>
          <p:cNvSpPr>
            <a:spLocks noGrp="1"/>
          </p:cNvSpPr>
          <p:nvPr>
            <p:ph idx="1"/>
          </p:nvPr>
        </p:nvSpPr>
        <p:spPr/>
        <p:txBody>
          <a:bodyPr/>
          <a:lstStyle/>
          <a:p>
            <a:r>
              <a:rPr lang="en-US" b="0" i="0" dirty="0">
                <a:solidFill>
                  <a:srgbClr val="333233"/>
                </a:solidFill>
                <a:effectLst/>
                <a:latin typeface="Times New Roman" panose="02020603050405020304" pitchFamily="18" charset="0"/>
                <a:cs typeface="Times New Roman" panose="02020603050405020304" pitchFamily="18" charset="0"/>
              </a:rPr>
              <a:t>SLAM (Simultaneous Localization and mapping): It is the process of mapping an area whilst keeping track of the location of the device within that area. This is what makes mobile mapping possible. This allows map construction of large areas in much shorter spaces of time as areas can be measured using mobile robots, drones or vehicles. SLAM systems simplify data collection and can be used in outdoor or indoor environments.</a:t>
            </a: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A32F1CA-EBE3-49B3-97BE-CB3DB266C0E8}"/>
              </a:ext>
            </a:extLst>
          </p:cNvPr>
          <p:cNvPicPr>
            <a:picLocks noChangeAspect="1"/>
          </p:cNvPicPr>
          <p:nvPr/>
        </p:nvPicPr>
        <p:blipFill>
          <a:blip r:embed="rId2"/>
          <a:stretch>
            <a:fillRect/>
          </a:stretch>
        </p:blipFill>
        <p:spPr>
          <a:xfrm>
            <a:off x="10107628" y="263796"/>
            <a:ext cx="1669985" cy="561828"/>
          </a:xfrm>
          <a:prstGeom prst="rect">
            <a:avLst/>
          </a:prstGeom>
        </p:spPr>
      </p:pic>
    </p:spTree>
    <p:extLst>
      <p:ext uri="{BB962C8B-B14F-4D97-AF65-F5344CB8AC3E}">
        <p14:creationId xmlns:p14="http://schemas.microsoft.com/office/powerpoint/2010/main" val="3365541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DFDD2-33C6-4BD5-B1A6-7CF100B6098F}"/>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CURRENT STATE OF THE ART</a:t>
            </a:r>
            <a:endParaRPr lang="en-IN" sz="36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5E1F09-A60F-41EC-BFF9-31AF5EC6B00D}"/>
              </a:ext>
            </a:extLst>
          </p:cNvPr>
          <p:cNvSpPr>
            <a:spLocks noGrp="1"/>
          </p:cNvSpPr>
          <p:nvPr>
            <p:ph idx="1"/>
          </p:nvPr>
        </p:nvSpPr>
        <p:spPr/>
        <p:txBody>
          <a:bodyPr>
            <a:normAutofit/>
          </a:bodyPr>
          <a:lstStyle/>
          <a:p>
            <a:pPr algn="l" fontAlgn="base"/>
            <a:r>
              <a:rPr lang="en-US" b="0" i="0" dirty="0">
                <a:effectLst/>
                <a:latin typeface="Times New Roman" panose="02020603050405020304" pitchFamily="18" charset="0"/>
                <a:cs typeface="Times New Roman" panose="02020603050405020304" pitchFamily="18" charset="0"/>
              </a:rPr>
              <a:t>The global SLAM Technology market report provides geographic analysis covering regions, such as North America, Europe, Asia-Pacific, and Rest of the World. The SLAM Technology market for each region is further segmented for major countries including the U.S., Canada, Germany, the U.K., France, Italy, China, India, Japan, Brazil, South Africa, and others.</a:t>
            </a:r>
          </a:p>
          <a:p>
            <a:pPr algn="l" fontAlgn="base"/>
            <a:r>
              <a:rPr lang="en-US" b="0" i="0" dirty="0">
                <a:effectLst/>
                <a:latin typeface="Times New Roman" panose="02020603050405020304" pitchFamily="18" charset="0"/>
                <a:cs typeface="Times New Roman" panose="02020603050405020304" pitchFamily="18" charset="0"/>
              </a:rPr>
              <a:t>The global </a:t>
            </a:r>
            <a:r>
              <a:rPr lang="en-US" dirty="0">
                <a:latin typeface="Times New Roman" panose="02020603050405020304" pitchFamily="18" charset="0"/>
                <a:cs typeface="Times New Roman" panose="02020603050405020304" pitchFamily="18" charset="0"/>
              </a:rPr>
              <a:t>SLAM Technology market</a:t>
            </a:r>
            <a:r>
              <a:rPr lang="en-US" b="0" i="0" dirty="0">
                <a:effectLst/>
                <a:latin typeface="Times New Roman" panose="02020603050405020304" pitchFamily="18" charset="0"/>
                <a:cs typeface="Times New Roman" panose="02020603050405020304" pitchFamily="18" charset="0"/>
              </a:rPr>
              <a:t> is segregated on the basis of Type as EKF SLAM, Fast SLAM, Graph-Based SLAM, and Others. Based on Application the global SLAM Technology market is segmented in Robotics, UAV, AR/VR, Automotive, and Others.</a:t>
            </a:r>
          </a:p>
          <a:p>
            <a:pPr algn="l" fontAlgn="base"/>
            <a:endParaRPr lang="en-US" b="0" i="0" dirty="0">
              <a:solidFill>
                <a:srgbClr val="2E2E2E"/>
              </a:solidFill>
              <a:effectLst/>
              <a:latin typeface="Lato" panose="020F0502020204030203" pitchFamily="34" charset="0"/>
            </a:endParaRPr>
          </a:p>
          <a:p>
            <a:endParaRPr lang="en-IN" dirty="0">
              <a:solidFill>
                <a:schemeClr val="tx1">
                  <a:lumMod val="95000"/>
                </a:schemeClr>
              </a:solidFill>
            </a:endParaRPr>
          </a:p>
        </p:txBody>
      </p:sp>
      <p:pic>
        <p:nvPicPr>
          <p:cNvPr id="5" name="Picture 4">
            <a:extLst>
              <a:ext uri="{FF2B5EF4-FFF2-40B4-BE49-F238E27FC236}">
                <a16:creationId xmlns:a16="http://schemas.microsoft.com/office/drawing/2014/main" id="{4D10BE30-CE4E-48DB-8105-95D3BAC36BF0}"/>
              </a:ext>
            </a:extLst>
          </p:cNvPr>
          <p:cNvPicPr>
            <a:picLocks noChangeAspect="1"/>
          </p:cNvPicPr>
          <p:nvPr/>
        </p:nvPicPr>
        <p:blipFill>
          <a:blip r:embed="rId2"/>
          <a:stretch>
            <a:fillRect/>
          </a:stretch>
        </p:blipFill>
        <p:spPr>
          <a:xfrm>
            <a:off x="10116505" y="230188"/>
            <a:ext cx="1669985" cy="561828"/>
          </a:xfrm>
          <a:prstGeom prst="rect">
            <a:avLst/>
          </a:prstGeom>
        </p:spPr>
      </p:pic>
    </p:spTree>
    <p:extLst>
      <p:ext uri="{BB962C8B-B14F-4D97-AF65-F5344CB8AC3E}">
        <p14:creationId xmlns:p14="http://schemas.microsoft.com/office/powerpoint/2010/main" val="2545460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D256-CD25-4CC5-A49C-91815C5C5053}"/>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PROBLEM STATEMENT</a:t>
            </a:r>
            <a:endParaRPr lang="en-IN" sz="36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48FF80-9132-464A-AE3C-F90CC86506DC}"/>
              </a:ext>
            </a:extLst>
          </p:cNvPr>
          <p:cNvSpPr>
            <a:spLocks noGrp="1"/>
          </p:cNvSpPr>
          <p:nvPr>
            <p:ph idx="1"/>
          </p:nvPr>
        </p:nvSpPr>
        <p:spPr>
          <a:xfrm>
            <a:off x="772358" y="1823852"/>
            <a:ext cx="10750858" cy="4621335"/>
          </a:xfrm>
        </p:spPr>
        <p:txBody>
          <a:bodyPr>
            <a:normAutofit fontScale="92500" lnSpcReduction="10000"/>
          </a:bodyPr>
          <a:lstStyle/>
          <a:p>
            <a:r>
              <a:rPr lang="en-US" sz="2600" b="0" i="0" dirty="0">
                <a:effectLst/>
                <a:latin typeface="Times New Roman" panose="02020603050405020304" pitchFamily="18" charset="0"/>
                <a:cs typeface="Times New Roman" panose="02020603050405020304" pitchFamily="18" charset="0"/>
              </a:rPr>
              <a:t>Simultaneous localization and mapping, or SLAM for short, is the process of creating a map using a robot or unmanned vehicle that navigates that environment while using the map it generates. SLAM is technique behind </a:t>
            </a:r>
            <a:r>
              <a:rPr lang="en-US" sz="2600" dirty="0">
                <a:latin typeface="Times New Roman" panose="02020603050405020304" pitchFamily="18" charset="0"/>
                <a:cs typeface="Times New Roman" panose="02020603050405020304" pitchFamily="18" charset="0"/>
              </a:rPr>
              <a:t>robot mapping</a:t>
            </a:r>
            <a:r>
              <a:rPr lang="en-US" sz="2600" b="0" i="0" dirty="0">
                <a:effectLst/>
                <a:latin typeface="Times New Roman" panose="02020603050405020304" pitchFamily="18" charset="0"/>
                <a:cs typeface="Times New Roman" panose="02020603050405020304" pitchFamily="18" charset="0"/>
              </a:rPr>
              <a:t>. </a:t>
            </a:r>
          </a:p>
          <a:p>
            <a:r>
              <a:rPr lang="en-US" sz="2600" b="0" i="0" dirty="0">
                <a:effectLst/>
                <a:latin typeface="Times New Roman" panose="02020603050405020304" pitchFamily="18" charset="0"/>
                <a:cs typeface="Times New Roman" panose="02020603050405020304" pitchFamily="18" charset="0"/>
              </a:rPr>
              <a:t>S.L.A.M. is in it’s infancy right now. The biggest issue/challenge with S.L.A.M. is what’s described as a “chicken-and-the-egg”. Meaning, to accurately map an environment, the technology must know the orientation and position within the map. However, the orientation and position information can only be taken from a pre-existing map of the environment. This issue makes S.L.A.M. difficult.</a:t>
            </a:r>
          </a:p>
          <a:p>
            <a:r>
              <a:rPr lang="en-US" sz="2600" b="0" i="0" dirty="0">
                <a:effectLst/>
                <a:latin typeface="Times New Roman" panose="02020603050405020304" pitchFamily="18" charset="0"/>
                <a:cs typeface="Times New Roman" panose="02020603050405020304" pitchFamily="18" charset="0"/>
              </a:rPr>
              <a:t>Another challenge that S.L.A.M. technology poses is that of accuracy. The technology is largely dependent upon accurate measurements and mathematics. For the machine that is running the technology to understand and create the map, the device’s sensors collect visual data from the real-world and marks them as reference points.</a:t>
            </a:r>
          </a:p>
          <a:p>
            <a:endParaRPr lang="en-US" b="0" i="0" dirty="0">
              <a:effectLst/>
              <a:latin typeface="charter"/>
            </a:endParaRPr>
          </a:p>
          <a:p>
            <a:endParaRPr lang="en-IN" dirty="0"/>
          </a:p>
        </p:txBody>
      </p:sp>
      <p:pic>
        <p:nvPicPr>
          <p:cNvPr id="4" name="Picture 3">
            <a:extLst>
              <a:ext uri="{FF2B5EF4-FFF2-40B4-BE49-F238E27FC236}">
                <a16:creationId xmlns:a16="http://schemas.microsoft.com/office/drawing/2014/main" id="{3D07E9C7-E558-4682-9CD8-68FB48405F94}"/>
              </a:ext>
            </a:extLst>
          </p:cNvPr>
          <p:cNvPicPr>
            <a:picLocks noChangeAspect="1"/>
          </p:cNvPicPr>
          <p:nvPr/>
        </p:nvPicPr>
        <p:blipFill>
          <a:blip r:embed="rId2"/>
          <a:stretch>
            <a:fillRect/>
          </a:stretch>
        </p:blipFill>
        <p:spPr>
          <a:xfrm>
            <a:off x="10123409" y="231961"/>
            <a:ext cx="1670449" cy="560881"/>
          </a:xfrm>
          <a:prstGeom prst="rect">
            <a:avLst/>
          </a:prstGeom>
        </p:spPr>
      </p:pic>
    </p:spTree>
    <p:extLst>
      <p:ext uri="{BB962C8B-B14F-4D97-AF65-F5344CB8AC3E}">
        <p14:creationId xmlns:p14="http://schemas.microsoft.com/office/powerpoint/2010/main" val="3958160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0E184-1E08-4325-9E8E-DFF4EE1CE538}"/>
              </a:ext>
            </a:extLst>
          </p:cNvPr>
          <p:cNvSpPr>
            <a:spLocks noGrp="1"/>
          </p:cNvSpPr>
          <p:nvPr>
            <p:ph type="title"/>
          </p:nvPr>
        </p:nvSpPr>
        <p:spPr>
          <a:xfrm>
            <a:off x="360302" y="66431"/>
            <a:ext cx="11471396" cy="653618"/>
          </a:xfrm>
        </p:spPr>
        <p:txBody>
          <a:bodyPr>
            <a:normAutofit/>
          </a:bodyPr>
          <a:lstStyle/>
          <a:p>
            <a:pPr algn="ctr"/>
            <a:r>
              <a:rPr lang="en-US" sz="3200" u="sng" dirty="0">
                <a:latin typeface="Times New Roman" panose="02020603050405020304" pitchFamily="18" charset="0"/>
                <a:cs typeface="Times New Roman" panose="02020603050405020304" pitchFamily="18" charset="0"/>
              </a:rPr>
              <a:t>LITERATURE REVIEW</a:t>
            </a:r>
            <a:endParaRPr lang="en-IN" sz="3200" u="sng" dirty="0">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B03816A8-EB01-4AB8-A3FB-BC16998E5208}"/>
              </a:ext>
            </a:extLst>
          </p:cNvPr>
          <p:cNvGraphicFramePr>
            <a:graphicFrameLocks noGrp="1"/>
          </p:cNvGraphicFramePr>
          <p:nvPr>
            <p:ph idx="1"/>
            <p:extLst>
              <p:ext uri="{D42A27DB-BD31-4B8C-83A1-F6EECF244321}">
                <p14:modId xmlns:p14="http://schemas.microsoft.com/office/powerpoint/2010/main" val="3771799559"/>
              </p:ext>
            </p:extLst>
          </p:nvPr>
        </p:nvGraphicFramePr>
        <p:xfrm>
          <a:off x="0" y="791068"/>
          <a:ext cx="12232160" cy="6431819"/>
        </p:xfrm>
        <a:graphic>
          <a:graphicData uri="http://schemas.openxmlformats.org/drawingml/2006/table">
            <a:tbl>
              <a:tblPr firstRow="1" bandRow="1">
                <a:tableStyleId>{5C22544A-7EE6-4342-B048-85BDC9FD1C3A}</a:tableStyleId>
              </a:tblPr>
              <a:tblGrid>
                <a:gridCol w="767080">
                  <a:extLst>
                    <a:ext uri="{9D8B030D-6E8A-4147-A177-3AD203B41FA5}">
                      <a16:colId xmlns:a16="http://schemas.microsoft.com/office/drawing/2014/main" val="3029882966"/>
                    </a:ext>
                  </a:extLst>
                </a:gridCol>
                <a:gridCol w="2736965">
                  <a:extLst>
                    <a:ext uri="{9D8B030D-6E8A-4147-A177-3AD203B41FA5}">
                      <a16:colId xmlns:a16="http://schemas.microsoft.com/office/drawing/2014/main" val="4215920818"/>
                    </a:ext>
                  </a:extLst>
                </a:gridCol>
                <a:gridCol w="2916456">
                  <a:extLst>
                    <a:ext uri="{9D8B030D-6E8A-4147-A177-3AD203B41FA5}">
                      <a16:colId xmlns:a16="http://schemas.microsoft.com/office/drawing/2014/main" val="2107537051"/>
                    </a:ext>
                  </a:extLst>
                </a:gridCol>
                <a:gridCol w="5811659">
                  <a:extLst>
                    <a:ext uri="{9D8B030D-6E8A-4147-A177-3AD203B41FA5}">
                      <a16:colId xmlns:a16="http://schemas.microsoft.com/office/drawing/2014/main" val="3036398386"/>
                    </a:ext>
                  </a:extLst>
                </a:gridCol>
              </a:tblGrid>
              <a:tr h="429640">
                <a:tc>
                  <a:txBody>
                    <a:bodyPr/>
                    <a:lstStyle/>
                    <a:p>
                      <a:pPr algn="ctr"/>
                      <a:r>
                        <a:rPr lang="en-US" sz="1800" dirty="0">
                          <a:latin typeface="Times New Roman" panose="02020603050405020304" pitchFamily="18" charset="0"/>
                          <a:cs typeface="Times New Roman" panose="02020603050405020304" pitchFamily="18" charset="0"/>
                        </a:rPr>
                        <a:t>S.NO</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RESEARCH PAPER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NOVELTY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SUMMARY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4287381"/>
                  </a:ext>
                </a:extLst>
              </a:tr>
              <a:tr h="1917859">
                <a:tc>
                  <a:txBody>
                    <a:bodyPr/>
                    <a:lstStyle/>
                    <a:p>
                      <a:r>
                        <a:rPr lang="en-US" sz="1200" dirty="0">
                          <a:latin typeface="Times New Roman" panose="02020603050405020304" pitchFamily="18" charset="0"/>
                          <a:cs typeface="Times New Roman" panose="02020603050405020304" pitchFamily="18" charset="0"/>
                          <a:hlinkClick r:id="rId2" action="ppaction://hlinksldjump"/>
                        </a:rPr>
                        <a:t>[1]</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i="0" u="none" strike="noStrike" baseline="0" dirty="0">
                          <a:latin typeface="Times New Roman" panose="02020603050405020304" pitchFamily="18" charset="0"/>
                          <a:cs typeface="Times New Roman" panose="02020603050405020304" pitchFamily="18" charset="0"/>
                        </a:rPr>
                        <a:t>Gijs </a:t>
                      </a:r>
                      <a:r>
                        <a:rPr lang="en-IN" sz="1200" i="0" u="none" strike="noStrike" baseline="0" dirty="0" err="1">
                          <a:latin typeface="Times New Roman" panose="02020603050405020304" pitchFamily="18" charset="0"/>
                          <a:cs typeface="Times New Roman" panose="02020603050405020304" pitchFamily="18" charset="0"/>
                        </a:rPr>
                        <a:t>Dubbelman</a:t>
                      </a:r>
                      <a:r>
                        <a:rPr lang="en-IN" sz="1200" i="1" u="none" strike="noStrike" baseline="0" dirty="0">
                          <a:latin typeface="Times New Roman" panose="02020603050405020304" pitchFamily="18" charset="0"/>
                          <a:cs typeface="Times New Roman" panose="02020603050405020304" pitchFamily="18" charset="0"/>
                        </a:rPr>
                        <a:t> and </a:t>
                      </a:r>
                      <a:r>
                        <a:rPr lang="en-IN" sz="1200" i="0" u="none" strike="noStrike" baseline="0" dirty="0">
                          <a:latin typeface="Times New Roman" panose="02020603050405020304" pitchFamily="18" charset="0"/>
                          <a:cs typeface="Times New Roman" panose="02020603050405020304" pitchFamily="18" charset="0"/>
                        </a:rPr>
                        <a:t>Brett Browning,</a:t>
                      </a:r>
                      <a:r>
                        <a:rPr lang="en-IN" sz="1200" dirty="0">
                          <a:latin typeface="Times New Roman" panose="02020603050405020304" pitchFamily="18" charset="0"/>
                          <a:cs typeface="Times New Roman" panose="02020603050405020304" pitchFamily="18" charset="0"/>
                        </a:rPr>
                        <a:t> “</a:t>
                      </a:r>
                      <a:r>
                        <a:rPr lang="en-IN" sz="1200" i="0" u="none" strike="noStrike" baseline="0" dirty="0">
                          <a:latin typeface="Times New Roman" panose="02020603050405020304" pitchFamily="18" charset="0"/>
                          <a:cs typeface="Times New Roman" panose="02020603050405020304" pitchFamily="18" charset="0"/>
                        </a:rPr>
                        <a:t>COP-SLAM: Closed-Form Online Pose-Chain Optimization for Visual SLAM”</a:t>
                      </a:r>
                      <a:r>
                        <a:rPr lang="en-IN" sz="1200" dirty="0">
                          <a:latin typeface="Times New Roman" panose="02020603050405020304" pitchFamily="18" charset="0"/>
                          <a:cs typeface="Times New Roman" panose="02020603050405020304" pitchFamily="18" charset="0"/>
                        </a:rPr>
                        <a:t>, </a:t>
                      </a:r>
                      <a:r>
                        <a:rPr lang="en-US" sz="1200" i="0" u="none" strike="noStrike" baseline="0" dirty="0">
                          <a:latin typeface="Times New Roman" panose="02020603050405020304" pitchFamily="18" charset="0"/>
                          <a:cs typeface="Times New Roman" panose="02020603050405020304" pitchFamily="18" charset="0"/>
                        </a:rPr>
                        <a:t>IEEE TRANSACTIONS ON ROBOTICS, VOL. 31, NO. 5, OCTOBER 2015.</a:t>
                      </a: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600" b="0" i="1" u="none" strike="noStrike" kern="1200" baseline="0" dirty="0">
                          <a:solidFill>
                            <a:schemeClr val="dk1"/>
                          </a:solidFill>
                          <a:latin typeface="Times New Roman" panose="02020603050405020304" pitchFamily="18" charset="0"/>
                          <a:ea typeface="+mn-ea"/>
                          <a:cs typeface="Times New Roman" panose="02020603050405020304" pitchFamily="18" charset="0"/>
                        </a:rPr>
                        <a:t>Closed-Form Solution: </a:t>
                      </a:r>
                      <a:r>
                        <a:rPr lang="en-US"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The concept behind the closed form</a:t>
                      </a:r>
                    </a:p>
                    <a:p>
                      <a:r>
                        <a:rPr lang="en-US"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solution to trajectory bending is to optimally transfer the</a:t>
                      </a:r>
                    </a:p>
                    <a:p>
                      <a:r>
                        <a:rPr lang="en-US"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error at the loop-closing edge over all successive edges.</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It is a theoretically unique SLAM approach that is specifically designed to optimize pose-chains, which are extremely sparse locally accurate pose-graphs that result from applying state-of-the-art visual-SLAM front-ends in large-scale environments for which frequent loop detection is not desired or not possible.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0199533"/>
                  </a:ext>
                </a:extLst>
              </a:tr>
              <a:tr h="1525797">
                <a:tc>
                  <a:txBody>
                    <a:bodyPr/>
                    <a:lstStyle/>
                    <a:p>
                      <a:r>
                        <a:rPr lang="en-US" sz="1200" dirty="0">
                          <a:latin typeface="Times New Roman" panose="02020603050405020304" pitchFamily="18" charset="0"/>
                          <a:cs typeface="Times New Roman" panose="02020603050405020304" pitchFamily="18" charset="0"/>
                          <a:hlinkClick r:id="rId2" action="ppaction://hlinksldjump"/>
                        </a:rPr>
                        <a:t>[2]</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baseline="0" dirty="0">
                          <a:latin typeface="Times New Roman" panose="02020603050405020304" pitchFamily="18" charset="0"/>
                          <a:cs typeface="Times New Roman" panose="02020603050405020304" pitchFamily="18" charset="0"/>
                        </a:rPr>
                        <a:t>Renato F. Salas-Moreno</a:t>
                      </a:r>
                      <a:r>
                        <a:rPr lang="en-IN" sz="1200" dirty="0">
                          <a:latin typeface="Times New Roman" panose="02020603050405020304" pitchFamily="18" charset="0"/>
                          <a:cs typeface="Times New Roman" panose="02020603050405020304" pitchFamily="18" charset="0"/>
                        </a:rPr>
                        <a:t>,</a:t>
                      </a:r>
                      <a:r>
                        <a:rPr lang="en-IN" sz="1200" b="0" i="0" u="none" strike="noStrike" baseline="0" dirty="0">
                          <a:latin typeface="Times New Roman" panose="02020603050405020304" pitchFamily="18" charset="0"/>
                          <a:cs typeface="Times New Roman" panose="02020603050405020304" pitchFamily="18" charset="0"/>
                        </a:rPr>
                        <a:t> Richard A. Newcombe</a:t>
                      </a:r>
                      <a:r>
                        <a:rPr lang="en-IN" sz="1200" dirty="0">
                          <a:latin typeface="Times New Roman" panose="02020603050405020304" pitchFamily="18" charset="0"/>
                          <a:cs typeface="Times New Roman" panose="02020603050405020304" pitchFamily="18" charset="0"/>
                        </a:rPr>
                        <a:t>, </a:t>
                      </a:r>
                      <a:r>
                        <a:rPr lang="en-IN" sz="1200" b="0" i="0" u="none" strike="noStrike" baseline="0" dirty="0" err="1">
                          <a:latin typeface="Times New Roman" panose="02020603050405020304" pitchFamily="18" charset="0"/>
                          <a:cs typeface="Times New Roman" panose="02020603050405020304" pitchFamily="18" charset="0"/>
                        </a:rPr>
                        <a:t>Hauke</a:t>
                      </a:r>
                      <a:r>
                        <a:rPr lang="en-IN" sz="1200" b="0" i="0" u="none" strike="noStrike" baseline="0" dirty="0">
                          <a:latin typeface="Times New Roman" panose="02020603050405020304" pitchFamily="18" charset="0"/>
                          <a:cs typeface="Times New Roman" panose="02020603050405020304" pitchFamily="18" charset="0"/>
                        </a:rPr>
                        <a:t> </a:t>
                      </a:r>
                      <a:r>
                        <a:rPr lang="en-IN" sz="1200" b="0" i="0" u="none" strike="noStrike" baseline="0" dirty="0" err="1">
                          <a:latin typeface="Times New Roman" panose="02020603050405020304" pitchFamily="18" charset="0"/>
                          <a:cs typeface="Times New Roman" panose="02020603050405020304" pitchFamily="18" charset="0"/>
                        </a:rPr>
                        <a:t>Strasdat</a:t>
                      </a:r>
                      <a:r>
                        <a:rPr lang="en-IN" sz="1200" dirty="0">
                          <a:latin typeface="Times New Roman" panose="02020603050405020304" pitchFamily="18" charset="0"/>
                          <a:cs typeface="Times New Roman" panose="02020603050405020304" pitchFamily="18" charset="0"/>
                        </a:rPr>
                        <a:t>,</a:t>
                      </a:r>
                      <a:r>
                        <a:rPr lang="en-IN" sz="1200" b="0" i="0" u="none" strike="noStrike" baseline="0" dirty="0">
                          <a:latin typeface="Times New Roman" panose="02020603050405020304" pitchFamily="18" charset="0"/>
                          <a:cs typeface="Times New Roman" panose="02020603050405020304" pitchFamily="18" charset="0"/>
                        </a:rPr>
                        <a:t> Paul H. J. Kelly</a:t>
                      </a:r>
                      <a:r>
                        <a:rPr lang="en-IN" sz="1200" dirty="0">
                          <a:latin typeface="Times New Roman" panose="02020603050405020304" pitchFamily="18" charset="0"/>
                          <a:cs typeface="Times New Roman" panose="02020603050405020304" pitchFamily="18" charset="0"/>
                        </a:rPr>
                        <a:t> and </a:t>
                      </a:r>
                      <a:r>
                        <a:rPr lang="en-IN" sz="1200" b="0" i="0" u="none" strike="noStrike" baseline="0" dirty="0">
                          <a:latin typeface="Times New Roman" panose="02020603050405020304" pitchFamily="18" charset="0"/>
                          <a:cs typeface="Times New Roman" panose="02020603050405020304" pitchFamily="18" charset="0"/>
                        </a:rPr>
                        <a:t>Andrew J. Davison, “</a:t>
                      </a:r>
                      <a:r>
                        <a:rPr lang="en-US" sz="1200" b="0" i="0" u="none" strike="noStrike" baseline="0" dirty="0">
                          <a:latin typeface="Times New Roman" panose="02020603050405020304" pitchFamily="18" charset="0"/>
                          <a:cs typeface="Times New Roman" panose="02020603050405020304" pitchFamily="18" charset="0"/>
                        </a:rPr>
                        <a:t>SLAM++: Simultaneous </a:t>
                      </a:r>
                      <a:r>
                        <a:rPr lang="en-US" sz="1200" b="0" i="0" u="none" strike="noStrike" baseline="0" dirty="0" err="1">
                          <a:latin typeface="Times New Roman" panose="02020603050405020304" pitchFamily="18" charset="0"/>
                          <a:cs typeface="Times New Roman" panose="02020603050405020304" pitchFamily="18" charset="0"/>
                        </a:rPr>
                        <a:t>Localisation</a:t>
                      </a:r>
                      <a:r>
                        <a:rPr lang="en-US" sz="1200" b="0" i="0" u="none" strike="noStrike" baseline="0" dirty="0">
                          <a:latin typeface="Times New Roman" panose="02020603050405020304" pitchFamily="18" charset="0"/>
                          <a:cs typeface="Times New Roman" panose="02020603050405020304" pitchFamily="18" charset="0"/>
                        </a:rPr>
                        <a:t> and Mapping at the Level of Objects</a:t>
                      </a:r>
                      <a:r>
                        <a:rPr lang="en-IN" sz="1200" dirty="0">
                          <a:latin typeface="Times New Roman" panose="02020603050405020304" pitchFamily="18" charset="0"/>
                          <a:cs typeface="Times New Roman" panose="02020603050405020304" pitchFamily="18" charset="0"/>
                        </a:rPr>
                        <a:t>”, </a:t>
                      </a:r>
                      <a:r>
                        <a:rPr lang="en-US" sz="1200" b="0" i="0" u="none" strike="noStrike" baseline="0" dirty="0">
                          <a:latin typeface="Times New Roman" panose="02020603050405020304" pitchFamily="18" charset="0"/>
                          <a:cs typeface="Times New Roman" panose="02020603050405020304" pitchFamily="18" charset="0"/>
                        </a:rPr>
                        <a:t>2013 IEEE Conference on Computer Vision and Pattern Recognition.</a:t>
                      </a: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They follow the approach of recognizing the 6DoF pose of 3D objects, represented by meshes, in a depth image. </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In this paper the authors have shown that using high performance 3D object recognition in the loop permits a new approach to real-time SLAM with large advantages in terms of efficient and semantic scene description. In particular they demonstrate how the tight interaction of recognition, mapping and tracking elements is mutually beneficial to all.</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77894887"/>
                  </a:ext>
                </a:extLst>
              </a:tr>
              <a:tr h="1917859">
                <a:tc>
                  <a:txBody>
                    <a:bodyPr/>
                    <a:lstStyle/>
                    <a:p>
                      <a:r>
                        <a:rPr lang="en-US" sz="1200" dirty="0">
                          <a:latin typeface="Times New Roman" panose="02020603050405020304" pitchFamily="18" charset="0"/>
                          <a:cs typeface="Times New Roman" panose="02020603050405020304" pitchFamily="18" charset="0"/>
                          <a:hlinkClick r:id="rId2" action="ppaction://hlinksldjump"/>
                        </a:rPr>
                        <a:t>[3]</a:t>
                      </a:r>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baseline="0" dirty="0">
                          <a:latin typeface="Times New Roman" panose="02020603050405020304" pitchFamily="18" charset="0"/>
                          <a:cs typeface="Times New Roman" panose="02020603050405020304" pitchFamily="18" charset="0"/>
                        </a:rPr>
                        <a:t>Xin Yang, </a:t>
                      </a:r>
                      <a:r>
                        <a:rPr lang="en-IN" sz="1200" b="0" i="0" u="none" strike="noStrike" baseline="0" dirty="0" err="1">
                          <a:latin typeface="Times New Roman" panose="02020603050405020304" pitchFamily="18" charset="0"/>
                          <a:cs typeface="Times New Roman" panose="02020603050405020304" pitchFamily="18" charset="0"/>
                        </a:rPr>
                        <a:t>Zikang</a:t>
                      </a:r>
                      <a:r>
                        <a:rPr lang="en-IN" sz="1200" b="0" i="0" u="none" strike="noStrike" baseline="0" dirty="0">
                          <a:latin typeface="Times New Roman" panose="02020603050405020304" pitchFamily="18" charset="0"/>
                          <a:cs typeface="Times New Roman" panose="02020603050405020304" pitchFamily="18" charset="0"/>
                        </a:rPr>
                        <a:t> Yuan, </a:t>
                      </a:r>
                      <a:r>
                        <a:rPr lang="en-IN" sz="1200" b="0" i="0" u="none" strike="noStrike" baseline="0" dirty="0" err="1">
                          <a:latin typeface="Times New Roman" panose="02020603050405020304" pitchFamily="18" charset="0"/>
                          <a:cs typeface="Times New Roman" panose="02020603050405020304" pitchFamily="18" charset="0"/>
                        </a:rPr>
                        <a:t>Dongfu</a:t>
                      </a:r>
                      <a:r>
                        <a:rPr lang="en-IN" sz="1200" b="0" i="0" u="none" strike="noStrike" baseline="0" dirty="0">
                          <a:latin typeface="Times New Roman" panose="02020603050405020304" pitchFamily="18" charset="0"/>
                          <a:cs typeface="Times New Roman" panose="02020603050405020304" pitchFamily="18" charset="0"/>
                        </a:rPr>
                        <a:t> Zhu, Cheng Chi, </a:t>
                      </a:r>
                      <a:r>
                        <a:rPr lang="en-IN" sz="1200" b="0" i="0" u="none" strike="noStrike" baseline="0" dirty="0" err="1">
                          <a:latin typeface="Times New Roman" panose="02020603050405020304" pitchFamily="18" charset="0"/>
                          <a:cs typeface="Times New Roman" panose="02020603050405020304" pitchFamily="18" charset="0"/>
                        </a:rPr>
                        <a:t>Kun</a:t>
                      </a:r>
                      <a:r>
                        <a:rPr lang="en-IN" sz="1200" b="0" i="0" u="none" strike="noStrike" baseline="0" dirty="0">
                          <a:latin typeface="Times New Roman" panose="02020603050405020304" pitchFamily="18" charset="0"/>
                          <a:cs typeface="Times New Roman" panose="02020603050405020304" pitchFamily="18" charset="0"/>
                        </a:rPr>
                        <a:t> Li and </a:t>
                      </a:r>
                      <a:r>
                        <a:rPr lang="en-IN" sz="1200" b="0" i="0" u="none" strike="noStrike" baseline="0" dirty="0" err="1">
                          <a:latin typeface="Times New Roman" panose="02020603050405020304" pitchFamily="18" charset="0"/>
                          <a:cs typeface="Times New Roman" panose="02020603050405020304" pitchFamily="18" charset="0"/>
                        </a:rPr>
                        <a:t>Chunyuan</a:t>
                      </a:r>
                      <a:r>
                        <a:rPr lang="en-IN" sz="1200" b="0" i="0" u="none" strike="noStrike" baseline="0" dirty="0">
                          <a:latin typeface="Times New Roman" panose="02020603050405020304" pitchFamily="18" charset="0"/>
                          <a:cs typeface="Times New Roman" panose="02020603050405020304" pitchFamily="18" charset="0"/>
                        </a:rPr>
                        <a:t> Liao, ”</a:t>
                      </a:r>
                      <a:r>
                        <a:rPr lang="en-US" sz="1200" b="0" i="0" u="none" strike="noStrike" baseline="0" dirty="0">
                          <a:latin typeface="Times New Roman" panose="02020603050405020304" pitchFamily="18" charset="0"/>
                          <a:cs typeface="Times New Roman" panose="02020603050405020304" pitchFamily="18" charset="0"/>
                        </a:rPr>
                        <a:t>Robust and Efficient RGB-D SLAM in Dynamic </a:t>
                      </a:r>
                      <a:r>
                        <a:rPr lang="en-IN" sz="1200" b="0" i="0" u="none" strike="noStrike" baseline="0" dirty="0">
                          <a:latin typeface="Times New Roman" panose="02020603050405020304" pitchFamily="18" charset="0"/>
                          <a:cs typeface="Times New Roman" panose="02020603050405020304" pitchFamily="18" charset="0"/>
                        </a:rPr>
                        <a:t>Environments”, TMM.2020.3038323, IEEE Transactions on Multimedia.</a:t>
                      </a:r>
                      <a:endParaRPr lang="en-IN" sz="12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ORB-SLAM2 is a real-time SLAM for Monocular, Stereo and RGB-D cameras that computes the camera trajectory and a sparse 3D reconstruction (in the stereo and RGB-D case with true scale). It is able to detect loops and re-localize the camera in real time.</a:t>
                      </a:r>
                      <a:endParaRPr lang="en-IN" sz="1600" b="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In this paper the authors propose an efficient RGB-D SLAM built on top of ORB-SLAM2 for dynamic</a:t>
                      </a:r>
                      <a:r>
                        <a:rPr lang="en-IN"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scenarios.</a:t>
                      </a:r>
                    </a:p>
                    <a:p>
                      <a:pPr marL="285750" indent="-285750">
                        <a:buFont typeface="Arial" panose="020B0604020202020204" pitchFamily="34" charset="0"/>
                        <a:buChar char="•"/>
                      </a:pPr>
                      <a:r>
                        <a:rPr lang="en-IN"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The authors observe </a:t>
                      </a:r>
                      <a:r>
                        <a:rPr lang="en-US"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that by carefully designing the dynamic region identification algorithm, it is not necessary to employ sophisticated semantic segmentation methods for region partition as most existing </a:t>
                      </a:r>
                      <a:r>
                        <a:rPr lang="en-IN" sz="16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systems did.</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97663204"/>
                  </a:ext>
                </a:extLst>
              </a:tr>
            </a:tbl>
          </a:graphicData>
        </a:graphic>
      </p:graphicFrame>
      <p:pic>
        <p:nvPicPr>
          <p:cNvPr id="4" name="Picture 3">
            <a:extLst>
              <a:ext uri="{FF2B5EF4-FFF2-40B4-BE49-F238E27FC236}">
                <a16:creationId xmlns:a16="http://schemas.microsoft.com/office/drawing/2014/main" id="{30A8599F-B097-462C-A52D-FD05A168F834}"/>
              </a:ext>
            </a:extLst>
          </p:cNvPr>
          <p:cNvPicPr>
            <a:picLocks noChangeAspect="1"/>
          </p:cNvPicPr>
          <p:nvPr/>
        </p:nvPicPr>
        <p:blipFill>
          <a:blip r:embed="rId4"/>
          <a:stretch>
            <a:fillRect/>
          </a:stretch>
        </p:blipFill>
        <p:spPr>
          <a:xfrm>
            <a:off x="10161249" y="230188"/>
            <a:ext cx="1670449" cy="560881"/>
          </a:xfrm>
          <a:prstGeom prst="rect">
            <a:avLst/>
          </a:prstGeom>
        </p:spPr>
      </p:pic>
    </p:spTree>
    <p:extLst>
      <p:ext uri="{BB962C8B-B14F-4D97-AF65-F5344CB8AC3E}">
        <p14:creationId xmlns:p14="http://schemas.microsoft.com/office/powerpoint/2010/main" val="3033669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2ACFF-227F-4390-AB37-999223BE9D57}"/>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BLOCK DIAGRAM</a:t>
            </a:r>
            <a:endParaRPr lang="en-IN" sz="3600" u="sng"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F8D5C61-A4E7-4B55-AD9E-732FC5ABFA7E}"/>
              </a:ext>
            </a:extLst>
          </p:cNvPr>
          <p:cNvPicPr>
            <a:picLocks noChangeAspect="1"/>
          </p:cNvPicPr>
          <p:nvPr/>
        </p:nvPicPr>
        <p:blipFill>
          <a:blip r:embed="rId2"/>
          <a:stretch>
            <a:fillRect/>
          </a:stretch>
        </p:blipFill>
        <p:spPr>
          <a:xfrm>
            <a:off x="10183735" y="227806"/>
            <a:ext cx="1670449" cy="560881"/>
          </a:xfrm>
          <a:prstGeom prst="rect">
            <a:avLst/>
          </a:prstGeom>
        </p:spPr>
      </p:pic>
      <p:pic>
        <p:nvPicPr>
          <p:cNvPr id="8" name="Content Placeholder 7">
            <a:extLst>
              <a:ext uri="{FF2B5EF4-FFF2-40B4-BE49-F238E27FC236}">
                <a16:creationId xmlns:a16="http://schemas.microsoft.com/office/drawing/2014/main" id="{D7F76A03-12F7-4A26-BD51-8C7C18ED272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51560" y="2114550"/>
            <a:ext cx="1562100" cy="2628900"/>
          </a:xfrm>
        </p:spPr>
      </p:pic>
      <p:pic>
        <p:nvPicPr>
          <p:cNvPr id="10" name="Picture 9">
            <a:extLst>
              <a:ext uri="{FF2B5EF4-FFF2-40B4-BE49-F238E27FC236}">
                <a16:creationId xmlns:a16="http://schemas.microsoft.com/office/drawing/2014/main" id="{C8E56C6F-BCDF-4CC9-9C03-C6BC86BAA4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9867" y="1992816"/>
            <a:ext cx="6280785" cy="4080324"/>
          </a:xfrm>
          <a:prstGeom prst="rect">
            <a:avLst/>
          </a:prstGeom>
        </p:spPr>
      </p:pic>
      <p:pic>
        <p:nvPicPr>
          <p:cNvPr id="12" name="Picture 11">
            <a:extLst>
              <a:ext uri="{FF2B5EF4-FFF2-40B4-BE49-F238E27FC236}">
                <a16:creationId xmlns:a16="http://schemas.microsoft.com/office/drawing/2014/main" id="{9A521A0E-0E07-4CB2-BE85-09CD8E9035CD}"/>
              </a:ext>
            </a:extLst>
          </p:cNvPr>
          <p:cNvPicPr>
            <a:picLocks noChangeAspect="1"/>
          </p:cNvPicPr>
          <p:nvPr/>
        </p:nvPicPr>
        <p:blipFill>
          <a:blip r:embed="rId5"/>
          <a:stretch>
            <a:fillRect/>
          </a:stretch>
        </p:blipFill>
        <p:spPr>
          <a:xfrm>
            <a:off x="6233159" y="2114550"/>
            <a:ext cx="4699949" cy="1714500"/>
          </a:xfrm>
          <a:prstGeom prst="rect">
            <a:avLst/>
          </a:prstGeom>
        </p:spPr>
      </p:pic>
      <p:pic>
        <p:nvPicPr>
          <p:cNvPr id="16" name="Picture 15">
            <a:extLst>
              <a:ext uri="{FF2B5EF4-FFF2-40B4-BE49-F238E27FC236}">
                <a16:creationId xmlns:a16="http://schemas.microsoft.com/office/drawing/2014/main" id="{1D3D4072-473E-4FC6-AAF5-A9CE5CA1CD6F}"/>
              </a:ext>
            </a:extLst>
          </p:cNvPr>
          <p:cNvPicPr>
            <a:picLocks noChangeAspect="1"/>
          </p:cNvPicPr>
          <p:nvPr/>
        </p:nvPicPr>
        <p:blipFill>
          <a:blip r:embed="rId6"/>
          <a:stretch>
            <a:fillRect/>
          </a:stretch>
        </p:blipFill>
        <p:spPr>
          <a:xfrm>
            <a:off x="9025890" y="4657725"/>
            <a:ext cx="2114550" cy="1200150"/>
          </a:xfrm>
          <a:prstGeom prst="rect">
            <a:avLst/>
          </a:prstGeom>
        </p:spPr>
      </p:pic>
    </p:spTree>
    <p:extLst>
      <p:ext uri="{BB962C8B-B14F-4D97-AF65-F5344CB8AC3E}">
        <p14:creationId xmlns:p14="http://schemas.microsoft.com/office/powerpoint/2010/main" val="1765458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BE0E2-B03C-483B-9F74-B84DF8FA7060}"/>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METHODOLOGY</a:t>
            </a:r>
            <a:endParaRPr lang="en-IN" sz="36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9C0C6C-EEC9-454B-97B4-B952CE63345C}"/>
              </a:ext>
            </a:extLst>
          </p:cNvPr>
          <p:cNvSpPr>
            <a:spLocks noGrp="1"/>
          </p:cNvSpPr>
          <p:nvPr>
            <p:ph idx="1"/>
          </p:nvPr>
        </p:nvSpPr>
        <p:spPr/>
        <p:txBody>
          <a:bodyPr/>
          <a:lstStyle/>
          <a:p>
            <a:pPr algn="l"/>
            <a:r>
              <a:rPr lang="en-US" b="0" i="0" dirty="0">
                <a:effectLst/>
                <a:latin typeface="Times New Roman" panose="02020603050405020304" pitchFamily="18" charset="0"/>
                <a:cs typeface="Times New Roman" panose="02020603050405020304" pitchFamily="18" charset="0"/>
              </a:rPr>
              <a:t>Histogram Equalization:</a:t>
            </a:r>
          </a:p>
          <a:p>
            <a:pPr marL="0" indent="0" algn="l">
              <a:buNone/>
            </a:pPr>
            <a:r>
              <a:rPr lang="en-US" b="0" i="0" dirty="0">
                <a:effectLst/>
                <a:latin typeface="Times New Roman" panose="02020603050405020304" pitchFamily="18" charset="0"/>
                <a:cs typeface="Times New Roman" panose="02020603050405020304" pitchFamily="18" charset="0"/>
              </a:rPr>
              <a:t>Histogram Equalization is a computer image processing technique used to improve contrast in images. It accomplishes this by effectively spreading out the most frequent intensity values, i.e. stretching out the intensity range of the image. This method usually increases the global contrast of images when its usable data is represented by close contrast values. This allows for areas of lower local contrast to gain a higher contrast.</a:t>
            </a:r>
          </a:p>
          <a:p>
            <a:endParaRPr lang="en-IN" dirty="0"/>
          </a:p>
        </p:txBody>
      </p:sp>
      <p:pic>
        <p:nvPicPr>
          <p:cNvPr id="4" name="Picture 3">
            <a:extLst>
              <a:ext uri="{FF2B5EF4-FFF2-40B4-BE49-F238E27FC236}">
                <a16:creationId xmlns:a16="http://schemas.microsoft.com/office/drawing/2014/main" id="{F75B624D-8BD5-43CA-A18F-9629B3FF519A}"/>
              </a:ext>
            </a:extLst>
          </p:cNvPr>
          <p:cNvPicPr>
            <a:picLocks noChangeAspect="1"/>
          </p:cNvPicPr>
          <p:nvPr/>
        </p:nvPicPr>
        <p:blipFill>
          <a:blip r:embed="rId2"/>
          <a:stretch>
            <a:fillRect/>
          </a:stretch>
        </p:blipFill>
        <p:spPr>
          <a:xfrm>
            <a:off x="10223393" y="230188"/>
            <a:ext cx="1670449" cy="560881"/>
          </a:xfrm>
          <a:prstGeom prst="rect">
            <a:avLst/>
          </a:prstGeom>
        </p:spPr>
      </p:pic>
    </p:spTree>
    <p:extLst>
      <p:ext uri="{BB962C8B-B14F-4D97-AF65-F5344CB8AC3E}">
        <p14:creationId xmlns:p14="http://schemas.microsoft.com/office/powerpoint/2010/main" val="3679147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38735B-8B82-477D-B568-84F029C6EDEB}"/>
              </a:ext>
            </a:extLst>
          </p:cNvPr>
          <p:cNvSpPr>
            <a:spLocks noGrp="1"/>
          </p:cNvSpPr>
          <p:nvPr>
            <p:ph idx="1"/>
          </p:nvPr>
        </p:nvSpPr>
        <p:spPr>
          <a:xfrm>
            <a:off x="1141412" y="310718"/>
            <a:ext cx="9905999" cy="6303146"/>
          </a:xfrm>
        </p:spPr>
        <p:txBody>
          <a:bodyPr/>
          <a:lstStyle/>
          <a:p>
            <a:endParaRPr lang="en-US" dirty="0"/>
          </a:p>
          <a:p>
            <a:endParaRPr lang="en-US" dirty="0"/>
          </a:p>
          <a:p>
            <a:endParaRPr lang="en-US" dirty="0"/>
          </a:p>
          <a:p>
            <a:endParaRPr lang="en-US" dirty="0"/>
          </a:p>
          <a:p>
            <a:endParaRPr lang="en-US" dirty="0"/>
          </a:p>
          <a:p>
            <a:r>
              <a:rPr lang="en-US" b="0" i="0" dirty="0">
                <a:effectLst/>
                <a:latin typeface="Times New Roman" panose="02020603050405020304" pitchFamily="18" charset="0"/>
                <a:cs typeface="Times New Roman" panose="02020603050405020304" pitchFamily="18" charset="0"/>
              </a:rPr>
              <a:t>A color histogram of an image represents the number of pixels in each type of color component. Histogram equalization cannot be applied separately to the Red, Green and Blue components of the image as it leads to dramatic changes in the image’s color balance. However, if the image is first converted to another color space, like HSL/HSV color space, then the algorithm can be applied to the luminance or value channel without resulting in changes to the hue and saturation of the image.</a:t>
            </a:r>
            <a:endParaRPr lang="en-IN"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C941A12D-4912-422A-8155-1CAD9D782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767" y="310718"/>
            <a:ext cx="7885287" cy="24384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498D5387-95FB-4D35-91B7-E92E0B80D025}"/>
              </a:ext>
            </a:extLst>
          </p:cNvPr>
          <p:cNvPicPr>
            <a:picLocks noChangeAspect="1"/>
          </p:cNvPicPr>
          <p:nvPr/>
        </p:nvPicPr>
        <p:blipFill>
          <a:blip r:embed="rId3"/>
          <a:stretch>
            <a:fillRect/>
          </a:stretch>
        </p:blipFill>
        <p:spPr>
          <a:xfrm>
            <a:off x="10294414" y="244136"/>
            <a:ext cx="1670449" cy="560881"/>
          </a:xfrm>
          <a:prstGeom prst="rect">
            <a:avLst/>
          </a:prstGeom>
        </p:spPr>
      </p:pic>
    </p:spTree>
    <p:extLst>
      <p:ext uri="{BB962C8B-B14F-4D97-AF65-F5344CB8AC3E}">
        <p14:creationId xmlns:p14="http://schemas.microsoft.com/office/powerpoint/2010/main" val="1695654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90D22-E12A-4FE1-9303-D86BB8CD6D9A}"/>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OBTAINED EQUALIZATION OUTPUTS FOR IMAGE INPUTS:</a:t>
            </a:r>
            <a:endParaRPr lang="en-IN" sz="3600"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C461E62-64ED-4250-BEB5-2E659B512749}"/>
              </a:ext>
            </a:extLst>
          </p:cNvPr>
          <p:cNvPicPr>
            <a:picLocks noChangeAspect="1"/>
          </p:cNvPicPr>
          <p:nvPr/>
        </p:nvPicPr>
        <p:blipFill>
          <a:blip r:embed="rId2"/>
          <a:stretch>
            <a:fillRect/>
          </a:stretch>
        </p:blipFill>
        <p:spPr>
          <a:xfrm>
            <a:off x="2118804" y="1731346"/>
            <a:ext cx="7954391" cy="4761529"/>
          </a:xfrm>
          <a:prstGeom prst="rect">
            <a:avLst/>
          </a:prstGeom>
        </p:spPr>
      </p:pic>
    </p:spTree>
    <p:extLst>
      <p:ext uri="{BB962C8B-B14F-4D97-AF65-F5344CB8AC3E}">
        <p14:creationId xmlns:p14="http://schemas.microsoft.com/office/powerpoint/2010/main" val="1335455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CB3A50-5846-49D9-B988-16D306A8805B}"/>
              </a:ext>
            </a:extLst>
          </p:cNvPr>
          <p:cNvSpPr>
            <a:spLocks noGrp="1"/>
          </p:cNvSpPr>
          <p:nvPr>
            <p:ph idx="1"/>
          </p:nvPr>
        </p:nvSpPr>
        <p:spPr>
          <a:xfrm>
            <a:off x="1141412" y="355106"/>
            <a:ext cx="9905999" cy="6267635"/>
          </a:xfrm>
        </p:spPr>
        <p:txBody>
          <a:bodyPr/>
          <a:lstStyle/>
          <a:p>
            <a:pPr algn="l"/>
            <a:r>
              <a:rPr lang="en-US" sz="2400" b="0" i="0" dirty="0">
                <a:effectLst/>
                <a:latin typeface="Times New Roman" panose="02020603050405020304" pitchFamily="18" charset="0"/>
                <a:cs typeface="Times New Roman" panose="02020603050405020304" pitchFamily="18" charset="0"/>
              </a:rPr>
              <a:t>Contrastive Limited Adaptive Equalization:</a:t>
            </a:r>
          </a:p>
          <a:p>
            <a:pPr marL="0" indent="0" algn="l">
              <a:buNone/>
            </a:pPr>
            <a:r>
              <a:rPr lang="en-US" sz="2400" b="0" i="0" dirty="0">
                <a:effectLst/>
                <a:latin typeface="Times New Roman" panose="02020603050405020304" pitchFamily="18" charset="0"/>
                <a:cs typeface="Times New Roman" panose="02020603050405020304" pitchFamily="18" charset="0"/>
              </a:rPr>
              <a:t>Contrast Limited AHE (CLAHE) differs from adaptive histogram equalization in its contrast limiting. In the case of CLAHE, the contrast limiting procedure is applied to each neighborhood from which a transformation function is derived. CLAHE was developed to prevent the over amplification of noise that adaptive histogram equalization can give rise to.</a:t>
            </a:r>
          </a:p>
          <a:p>
            <a:endParaRPr lang="en-IN" dirty="0"/>
          </a:p>
        </p:txBody>
      </p:sp>
      <p:pic>
        <p:nvPicPr>
          <p:cNvPr id="6" name="Picture 5">
            <a:extLst>
              <a:ext uri="{FF2B5EF4-FFF2-40B4-BE49-F238E27FC236}">
                <a16:creationId xmlns:a16="http://schemas.microsoft.com/office/drawing/2014/main" id="{BA46B93E-8FF4-45B3-A5D2-950AADC7A40E}"/>
              </a:ext>
            </a:extLst>
          </p:cNvPr>
          <p:cNvPicPr>
            <a:picLocks noChangeAspect="1"/>
          </p:cNvPicPr>
          <p:nvPr/>
        </p:nvPicPr>
        <p:blipFill>
          <a:blip r:embed="rId2"/>
          <a:stretch>
            <a:fillRect/>
          </a:stretch>
        </p:blipFill>
        <p:spPr>
          <a:xfrm>
            <a:off x="850533" y="2672179"/>
            <a:ext cx="10487755" cy="3715306"/>
          </a:xfrm>
          <a:prstGeom prst="rect">
            <a:avLst/>
          </a:prstGeom>
        </p:spPr>
      </p:pic>
      <p:pic>
        <p:nvPicPr>
          <p:cNvPr id="2" name="Picture 1">
            <a:extLst>
              <a:ext uri="{FF2B5EF4-FFF2-40B4-BE49-F238E27FC236}">
                <a16:creationId xmlns:a16="http://schemas.microsoft.com/office/drawing/2014/main" id="{D76C92EE-683D-438D-A8FB-DC3DDCAE5A9C}"/>
              </a:ext>
            </a:extLst>
          </p:cNvPr>
          <p:cNvPicPr>
            <a:picLocks noChangeAspect="1"/>
          </p:cNvPicPr>
          <p:nvPr/>
        </p:nvPicPr>
        <p:blipFill>
          <a:blip r:embed="rId3"/>
          <a:stretch>
            <a:fillRect/>
          </a:stretch>
        </p:blipFill>
        <p:spPr>
          <a:xfrm>
            <a:off x="10212186" y="137605"/>
            <a:ext cx="1670449" cy="560881"/>
          </a:xfrm>
          <a:prstGeom prst="rect">
            <a:avLst/>
          </a:prstGeom>
        </p:spPr>
      </p:pic>
    </p:spTree>
    <p:extLst>
      <p:ext uri="{BB962C8B-B14F-4D97-AF65-F5344CB8AC3E}">
        <p14:creationId xmlns:p14="http://schemas.microsoft.com/office/powerpoint/2010/main" val="2850601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2CD377-A4DD-4CC1-B623-42DC98B57AB7}"/>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BLOB DETECTION</a:t>
            </a:r>
            <a:endParaRPr lang="en-IN" sz="36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94FF59-6A72-4031-A430-948EA0419066}"/>
              </a:ext>
            </a:extLst>
          </p:cNvPr>
          <p:cNvSpPr>
            <a:spLocks noGrp="1"/>
          </p:cNvSpPr>
          <p:nvPr>
            <p:ph idx="1"/>
          </p:nvPr>
        </p:nvSpPr>
        <p:spPr>
          <a:xfrm>
            <a:off x="424872" y="1829432"/>
            <a:ext cx="11342255" cy="4584411"/>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B</a:t>
            </a:r>
            <a:r>
              <a:rPr lang="en-US" sz="2000" i="0" dirty="0">
                <a:effectLst/>
                <a:latin typeface="Times New Roman" panose="02020603050405020304" pitchFamily="18" charset="0"/>
                <a:cs typeface="Times New Roman" panose="02020603050405020304" pitchFamily="18" charset="0"/>
              </a:rPr>
              <a:t>lob detection methods are aimed at detecting regions in a </a:t>
            </a:r>
            <a:r>
              <a:rPr lang="en-US" sz="2000" dirty="0">
                <a:latin typeface="Times New Roman" panose="02020603050405020304" pitchFamily="18" charset="0"/>
                <a:cs typeface="Times New Roman" panose="02020603050405020304" pitchFamily="18" charset="0"/>
              </a:rPr>
              <a:t>digital image</a:t>
            </a:r>
            <a:r>
              <a:rPr lang="en-US" sz="2000" i="0" dirty="0">
                <a:effectLst/>
                <a:latin typeface="Times New Roman" panose="02020603050405020304" pitchFamily="18" charset="0"/>
                <a:cs typeface="Times New Roman" panose="02020603050405020304" pitchFamily="18" charset="0"/>
              </a:rPr>
              <a:t> that differ in properties, such as brightness or color, compared to surrounding regions. Informally, a blob is a region of an image in which some properties are constant or approximately constant; all the points in a blob can be considered in some sense to be similar to each other. </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Laplacian of Gaussian (</a:t>
            </a:r>
            <a:r>
              <a:rPr lang="en-US" sz="2000" dirty="0" err="1">
                <a:latin typeface="Times New Roman" panose="02020603050405020304" pitchFamily="18" charset="0"/>
                <a:cs typeface="Times New Roman" panose="02020603050405020304" pitchFamily="18" charset="0"/>
              </a:rPr>
              <a:t>LoG</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This is the most accurate and slowest approach. It computes the Laplacian of Gaussian images with successively increasing standard deviation and stacks them up in a cube. Blobs are local </a:t>
            </a:r>
            <a:r>
              <a:rPr lang="en-US" sz="2000" dirty="0" err="1">
                <a:latin typeface="Times New Roman" panose="02020603050405020304" pitchFamily="18" charset="0"/>
                <a:cs typeface="Times New Roman" panose="02020603050405020304" pitchFamily="18" charset="0"/>
              </a:rPr>
              <a:t>maximas</a:t>
            </a:r>
            <a:r>
              <a:rPr lang="en-US" sz="2000" dirty="0">
                <a:latin typeface="Times New Roman" panose="02020603050405020304" pitchFamily="18" charset="0"/>
                <a:cs typeface="Times New Roman" panose="02020603050405020304" pitchFamily="18" charset="0"/>
              </a:rPr>
              <a:t> in this cube. Detecting larger blobs is especially slower because of larger kernel sizes during convolution. Only bright blobs on dark backgrounds are detected.</a:t>
            </a:r>
          </a:p>
          <a:p>
            <a:r>
              <a:rPr lang="en-US" sz="2000" dirty="0">
                <a:latin typeface="Times New Roman" panose="02020603050405020304" pitchFamily="18" charset="0"/>
                <a:cs typeface="Times New Roman" panose="02020603050405020304" pitchFamily="18" charset="0"/>
              </a:rPr>
              <a:t>Difference of Gaussian (</a:t>
            </a:r>
            <a:r>
              <a:rPr lang="en-US" sz="2000" dirty="0" err="1">
                <a:latin typeface="Times New Roman" panose="02020603050405020304" pitchFamily="18" charset="0"/>
                <a:cs typeface="Times New Roman" panose="02020603050405020304" pitchFamily="18" charset="0"/>
              </a:rPr>
              <a:t>DoG</a:t>
            </a:r>
            <a:r>
              <a:rPr lang="en-US" sz="2000" dirty="0">
                <a:latin typeface="Times New Roman" panose="02020603050405020304" pitchFamily="18" charset="0"/>
                <a:cs typeface="Times New Roman" panose="02020603050405020304" pitchFamily="18" charset="0"/>
              </a:rPr>
              <a:t>):</a:t>
            </a:r>
          </a:p>
          <a:p>
            <a:pPr marL="0" indent="0">
              <a:buNone/>
            </a:pPr>
            <a:r>
              <a:rPr lang="en-US" sz="2000" dirty="0">
                <a:latin typeface="Times New Roman" panose="02020603050405020304" pitchFamily="18" charset="0"/>
                <a:cs typeface="Times New Roman" panose="02020603050405020304" pitchFamily="18" charset="0"/>
              </a:rPr>
              <a:t>This is a faster approximation of </a:t>
            </a:r>
            <a:r>
              <a:rPr lang="en-US" sz="2000" dirty="0" err="1">
                <a:latin typeface="Times New Roman" panose="02020603050405020304" pitchFamily="18" charset="0"/>
                <a:cs typeface="Times New Roman" panose="02020603050405020304" pitchFamily="18" charset="0"/>
              </a:rPr>
              <a:t>LoG</a:t>
            </a:r>
            <a:r>
              <a:rPr lang="en-US" sz="2000" dirty="0">
                <a:latin typeface="Times New Roman" panose="02020603050405020304" pitchFamily="18" charset="0"/>
                <a:cs typeface="Times New Roman" panose="02020603050405020304" pitchFamily="18" charset="0"/>
              </a:rPr>
              <a:t> approach. In this case the image is blurred with increasing standard deviations and the difference between two successively blurred images are stacked up in a cube. This method suffers from the same disadvantage as </a:t>
            </a:r>
            <a:r>
              <a:rPr lang="en-US" sz="2000" dirty="0" err="1">
                <a:latin typeface="Times New Roman" panose="02020603050405020304" pitchFamily="18" charset="0"/>
                <a:cs typeface="Times New Roman" panose="02020603050405020304" pitchFamily="18" charset="0"/>
              </a:rPr>
              <a:t>LoG</a:t>
            </a:r>
            <a:r>
              <a:rPr lang="en-US" sz="2000" dirty="0">
                <a:latin typeface="Times New Roman" panose="02020603050405020304" pitchFamily="18" charset="0"/>
                <a:cs typeface="Times New Roman" panose="02020603050405020304" pitchFamily="18" charset="0"/>
              </a:rPr>
              <a:t> approach for detecting larger blobs. Blobs are again assumed to be bright on dark. </a:t>
            </a:r>
          </a:p>
          <a:p>
            <a:pPr marL="0" indent="0">
              <a:buNone/>
            </a:pPr>
            <a:endParaRPr lang="en-IN" dirty="0"/>
          </a:p>
        </p:txBody>
      </p:sp>
      <p:pic>
        <p:nvPicPr>
          <p:cNvPr id="2" name="Picture 1">
            <a:extLst>
              <a:ext uri="{FF2B5EF4-FFF2-40B4-BE49-F238E27FC236}">
                <a16:creationId xmlns:a16="http://schemas.microsoft.com/office/drawing/2014/main" id="{9F42CEB5-0F0A-41EB-A085-EA6E7E5A1BAB}"/>
              </a:ext>
            </a:extLst>
          </p:cNvPr>
          <p:cNvPicPr>
            <a:picLocks noChangeAspect="1"/>
          </p:cNvPicPr>
          <p:nvPr/>
        </p:nvPicPr>
        <p:blipFill>
          <a:blip r:embed="rId2"/>
          <a:stretch>
            <a:fillRect/>
          </a:stretch>
        </p:blipFill>
        <p:spPr>
          <a:xfrm>
            <a:off x="10212186" y="226381"/>
            <a:ext cx="1670449" cy="560881"/>
          </a:xfrm>
          <a:prstGeom prst="rect">
            <a:avLst/>
          </a:prstGeom>
        </p:spPr>
      </p:pic>
    </p:spTree>
    <p:extLst>
      <p:ext uri="{BB962C8B-B14F-4D97-AF65-F5344CB8AC3E}">
        <p14:creationId xmlns:p14="http://schemas.microsoft.com/office/powerpoint/2010/main" val="1265067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F0F3F1-81AC-4CCA-98E3-295F456F954A}"/>
              </a:ext>
            </a:extLst>
          </p:cNvPr>
          <p:cNvSpPr>
            <a:spLocks noGrp="1"/>
          </p:cNvSpPr>
          <p:nvPr>
            <p:ph idx="1"/>
          </p:nvPr>
        </p:nvSpPr>
        <p:spPr>
          <a:xfrm>
            <a:off x="1141412" y="284085"/>
            <a:ext cx="9905999" cy="6365290"/>
          </a:xfrm>
        </p:spPr>
        <p:txBody>
          <a:bodyPr>
            <a:normAutofit/>
          </a:bodyPr>
          <a:lstStyle/>
          <a:p>
            <a:r>
              <a:rPr lang="en-US" sz="2400" dirty="0">
                <a:latin typeface="Times New Roman" panose="02020603050405020304" pitchFamily="18" charset="0"/>
                <a:cs typeface="Times New Roman" panose="02020603050405020304" pitchFamily="18" charset="0"/>
              </a:rPr>
              <a:t>Determinant of Hessian (</a:t>
            </a:r>
            <a:r>
              <a:rPr lang="en-US" sz="2400" dirty="0" err="1">
                <a:latin typeface="Times New Roman" panose="02020603050405020304" pitchFamily="18" charset="0"/>
                <a:cs typeface="Times New Roman" panose="02020603050405020304" pitchFamily="18" charset="0"/>
              </a:rPr>
              <a:t>DoH</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This is the fastest approach. It detects blobs by finding maxima’s in the matrix of the Determinant of Hessian of the image. The detection speed is independent of the size of blobs as internally the implementation uses box filters instead of convolutions. Bright on dark as well as dark on bright blobs are detected. The downside is that small blobs (&lt;3px) are not detected accurately.</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25CC394-9571-4B63-B385-7AD3A0B17B00}"/>
              </a:ext>
            </a:extLst>
          </p:cNvPr>
          <p:cNvPicPr>
            <a:picLocks noChangeAspect="1"/>
          </p:cNvPicPr>
          <p:nvPr/>
        </p:nvPicPr>
        <p:blipFill>
          <a:blip r:embed="rId2"/>
          <a:stretch>
            <a:fillRect/>
          </a:stretch>
        </p:blipFill>
        <p:spPr>
          <a:xfrm>
            <a:off x="1266230" y="2823099"/>
            <a:ext cx="9656362" cy="3401673"/>
          </a:xfrm>
          <a:prstGeom prst="rect">
            <a:avLst/>
          </a:prstGeom>
        </p:spPr>
      </p:pic>
      <p:pic>
        <p:nvPicPr>
          <p:cNvPr id="2" name="Picture 1">
            <a:extLst>
              <a:ext uri="{FF2B5EF4-FFF2-40B4-BE49-F238E27FC236}">
                <a16:creationId xmlns:a16="http://schemas.microsoft.com/office/drawing/2014/main" id="{E0B00184-E9FF-464A-93A5-631921AEB589}"/>
              </a:ext>
            </a:extLst>
          </p:cNvPr>
          <p:cNvPicPr>
            <a:picLocks noChangeAspect="1"/>
          </p:cNvPicPr>
          <p:nvPr/>
        </p:nvPicPr>
        <p:blipFill>
          <a:blip r:embed="rId3"/>
          <a:stretch>
            <a:fillRect/>
          </a:stretch>
        </p:blipFill>
        <p:spPr>
          <a:xfrm>
            <a:off x="10303292" y="157578"/>
            <a:ext cx="1670449" cy="560881"/>
          </a:xfrm>
          <a:prstGeom prst="rect">
            <a:avLst/>
          </a:prstGeom>
        </p:spPr>
      </p:pic>
    </p:spTree>
    <p:extLst>
      <p:ext uri="{BB962C8B-B14F-4D97-AF65-F5344CB8AC3E}">
        <p14:creationId xmlns:p14="http://schemas.microsoft.com/office/powerpoint/2010/main" val="778469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22F56-EE61-4A70-AADF-D2735D5D860B}"/>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TIMELINE</a:t>
            </a:r>
            <a:endParaRPr lang="en-IN" sz="3600" u="sng" dirty="0">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532BC5AD-D7C3-4049-88EC-B690936E7BEA}"/>
              </a:ext>
            </a:extLst>
          </p:cNvPr>
          <p:cNvGraphicFramePr>
            <a:graphicFrameLocks noGrp="1"/>
          </p:cNvGraphicFramePr>
          <p:nvPr>
            <p:ph idx="1"/>
            <p:extLst>
              <p:ext uri="{D42A27DB-BD31-4B8C-83A1-F6EECF244321}">
                <p14:modId xmlns:p14="http://schemas.microsoft.com/office/powerpoint/2010/main" val="3263458886"/>
              </p:ext>
            </p:extLst>
          </p:nvPr>
        </p:nvGraphicFramePr>
        <p:xfrm>
          <a:off x="489328" y="2050742"/>
          <a:ext cx="11213344" cy="3902801"/>
        </p:xfrm>
        <a:graphic>
          <a:graphicData uri="http://schemas.openxmlformats.org/drawingml/2006/table">
            <a:tbl>
              <a:tblPr firstRow="1" bandRow="1">
                <a:tableStyleId>{5C22544A-7EE6-4342-B048-85BDC9FD1C3A}</a:tableStyleId>
              </a:tblPr>
              <a:tblGrid>
                <a:gridCol w="1280569">
                  <a:extLst>
                    <a:ext uri="{9D8B030D-6E8A-4147-A177-3AD203B41FA5}">
                      <a16:colId xmlns:a16="http://schemas.microsoft.com/office/drawing/2014/main" val="3206369644"/>
                    </a:ext>
                  </a:extLst>
                </a:gridCol>
                <a:gridCol w="1887703">
                  <a:extLst>
                    <a:ext uri="{9D8B030D-6E8A-4147-A177-3AD203B41FA5}">
                      <a16:colId xmlns:a16="http://schemas.microsoft.com/office/drawing/2014/main" val="764231915"/>
                    </a:ext>
                  </a:extLst>
                </a:gridCol>
                <a:gridCol w="4307291">
                  <a:extLst>
                    <a:ext uri="{9D8B030D-6E8A-4147-A177-3AD203B41FA5}">
                      <a16:colId xmlns:a16="http://schemas.microsoft.com/office/drawing/2014/main" val="2749712806"/>
                    </a:ext>
                  </a:extLst>
                </a:gridCol>
                <a:gridCol w="3737781">
                  <a:extLst>
                    <a:ext uri="{9D8B030D-6E8A-4147-A177-3AD203B41FA5}">
                      <a16:colId xmlns:a16="http://schemas.microsoft.com/office/drawing/2014/main" val="2219803349"/>
                    </a:ext>
                  </a:extLst>
                </a:gridCol>
              </a:tblGrid>
              <a:tr h="702466">
                <a:tc>
                  <a:txBody>
                    <a:bodyPr/>
                    <a:lstStyle/>
                    <a:p>
                      <a:pPr algn="ctr"/>
                      <a:r>
                        <a:rPr lang="en-US" sz="2400" dirty="0">
                          <a:latin typeface="Times New Roman" panose="02020603050405020304" pitchFamily="18" charset="0"/>
                          <a:cs typeface="Times New Roman" panose="02020603050405020304" pitchFamily="18" charset="0"/>
                        </a:rPr>
                        <a:t>S NO</a:t>
                      </a:r>
                      <a:endParaRPr lang="en-IN" sz="2400" dirty="0">
                        <a:latin typeface="Times New Roman" panose="02020603050405020304" pitchFamily="18" charset="0"/>
                        <a:cs typeface="Times New Roman" panose="02020603050405020304" pitchFamily="18" charset="0"/>
                      </a:endParaRPr>
                    </a:p>
                  </a:txBody>
                  <a:tcPr/>
                </a:tc>
                <a:tc gridSpan="2">
                  <a:txBody>
                    <a:bodyPr/>
                    <a:lstStyle/>
                    <a:p>
                      <a:pPr algn="ctr"/>
                      <a:r>
                        <a:rPr lang="en-US" sz="2400" dirty="0">
                          <a:latin typeface="Times New Roman" panose="02020603050405020304" pitchFamily="18" charset="0"/>
                          <a:cs typeface="Times New Roman" panose="02020603050405020304" pitchFamily="18" charset="0"/>
                        </a:rPr>
                        <a:t>PROCESSES TO BE COMPLETED</a:t>
                      </a:r>
                      <a:endParaRPr lang="en-IN" sz="2400" dirty="0">
                        <a:latin typeface="Times New Roman" panose="02020603050405020304" pitchFamily="18" charset="0"/>
                        <a:cs typeface="Times New Roman" panose="02020603050405020304" pitchFamily="18" charset="0"/>
                      </a:endParaRPr>
                    </a:p>
                  </a:txBody>
                  <a:tcPr/>
                </a:tc>
                <a:tc hMerge="1">
                  <a:txBody>
                    <a:bodyPr/>
                    <a:lstStyle/>
                    <a:p>
                      <a:endParaRPr lang="en-IN"/>
                    </a:p>
                  </a:txBody>
                  <a:tcPr/>
                </a:tc>
                <a:tc>
                  <a:txBody>
                    <a:bodyPr/>
                    <a:lstStyle/>
                    <a:p>
                      <a:pPr algn="ctr"/>
                      <a:r>
                        <a:rPr lang="en-US" sz="2400" dirty="0">
                          <a:latin typeface="Times New Roman" panose="02020603050405020304" pitchFamily="18" charset="0"/>
                          <a:cs typeface="Times New Roman" panose="02020603050405020304" pitchFamily="18" charset="0"/>
                        </a:rPr>
                        <a:t>DEADLINE</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28087469"/>
                  </a:ext>
                </a:extLst>
              </a:tr>
              <a:tr h="864107">
                <a:tc rowSpan="2">
                  <a:txBody>
                    <a:bodyPr/>
                    <a:lstStyle/>
                    <a:p>
                      <a:pPr algn="ct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rowSpan="2">
                  <a:txBody>
                    <a:bodyPr/>
                    <a:lstStyle/>
                    <a:p>
                      <a:pPr algn="ctr"/>
                      <a:r>
                        <a:rPr lang="en-US" dirty="0">
                          <a:latin typeface="Times New Roman" panose="02020603050405020304" pitchFamily="18" charset="0"/>
                          <a:cs typeface="Times New Roman" panose="02020603050405020304" pitchFamily="18" charset="0"/>
                        </a:rPr>
                        <a:t>Pre-Processing</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Geometric Image Segmentation (1 Week)</a:t>
                      </a:r>
                      <a:endParaRPr lang="en-IN" dirty="0">
                        <a:latin typeface="Times New Roman" panose="02020603050405020304" pitchFamily="18" charset="0"/>
                        <a:cs typeface="Times New Roman" panose="02020603050405020304" pitchFamily="18" charset="0"/>
                      </a:endParaRPr>
                    </a:p>
                  </a:txBody>
                  <a:tcPr/>
                </a:tc>
                <a:tc rowSpan="2">
                  <a:txBody>
                    <a:bodyPr/>
                    <a:lstStyle/>
                    <a:p>
                      <a:pPr algn="ctr"/>
                      <a:r>
                        <a:rPr lang="en-US" dirty="0">
                          <a:latin typeface="Times New Roman" panose="02020603050405020304" pitchFamily="18" charset="0"/>
                          <a:cs typeface="Times New Roman" panose="02020603050405020304" pitchFamily="18" charset="0"/>
                        </a:rPr>
                        <a:t>15-January-2022</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29518989"/>
                  </a:ext>
                </a:extLst>
              </a:tr>
              <a:tr h="674373">
                <a:tc vMerge="1">
                  <a:txBody>
                    <a:bodyPr/>
                    <a:lstStyle/>
                    <a:p>
                      <a:endParaRPr lang="en-IN"/>
                    </a:p>
                  </a:txBody>
                  <a:tcPr/>
                </a:tc>
                <a:tc vMerge="1">
                  <a:txBody>
                    <a:bodyPr/>
                    <a:lstStyle/>
                    <a:p>
                      <a:endParaRPr lang="en-IN"/>
                    </a:p>
                  </a:txBody>
                  <a:tcPr/>
                </a:tc>
                <a:tc>
                  <a:txBody>
                    <a:bodyPr/>
                    <a:lstStyle/>
                    <a:p>
                      <a:pPr algn="ctr"/>
                      <a:r>
                        <a:rPr lang="en-US" dirty="0">
                          <a:latin typeface="Times New Roman" panose="02020603050405020304" pitchFamily="18" charset="0"/>
                          <a:cs typeface="Times New Roman" panose="02020603050405020304" pitchFamily="18" charset="0"/>
                        </a:rPr>
                        <a:t>Label Matching (3 Weeks)</a:t>
                      </a:r>
                      <a:endParaRPr lang="en-IN"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extLst>
                  <a:ext uri="{0D108BD9-81ED-4DB2-BD59-A6C34878D82A}">
                    <a16:rowId xmlns:a16="http://schemas.microsoft.com/office/drawing/2014/main" val="924992846"/>
                  </a:ext>
                </a:extLst>
              </a:tr>
              <a:tr h="493776">
                <a:tc rowSpan="3">
                  <a:txBody>
                    <a:bodyPr/>
                    <a:lstStyle/>
                    <a:p>
                      <a:pPr algn="ctr"/>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rowSpan="3">
                  <a:txBody>
                    <a:bodyPr/>
                    <a:lstStyle/>
                    <a:p>
                      <a:pPr algn="ctr"/>
                      <a:r>
                        <a:rPr lang="en-US" dirty="0">
                          <a:latin typeface="Times New Roman" panose="02020603050405020304" pitchFamily="18" charset="0"/>
                          <a:cs typeface="Times New Roman" panose="02020603050405020304" pitchFamily="18" charset="0"/>
                        </a:rPr>
                        <a:t>SLAM: </a:t>
                      </a:r>
                    </a:p>
                  </a:txBody>
                  <a:tcPr/>
                </a:tc>
                <a:tc>
                  <a:txBody>
                    <a:bodyPr/>
                    <a:lstStyle/>
                    <a:p>
                      <a:pPr algn="ctr"/>
                      <a:r>
                        <a:rPr lang="en-US" dirty="0">
                          <a:latin typeface="Times New Roman" panose="02020603050405020304" pitchFamily="18" charset="0"/>
                          <a:cs typeface="Times New Roman" panose="02020603050405020304" pitchFamily="18" charset="0"/>
                        </a:rPr>
                        <a:t>ICP (1 Week)</a:t>
                      </a:r>
                      <a:endParaRPr lang="en-IN" dirty="0">
                        <a:latin typeface="Times New Roman" panose="02020603050405020304" pitchFamily="18" charset="0"/>
                        <a:cs typeface="Times New Roman" panose="02020603050405020304" pitchFamily="18" charset="0"/>
                      </a:endParaRPr>
                    </a:p>
                  </a:txBody>
                  <a:tcPr/>
                </a:tc>
                <a:tc rowSpan="3">
                  <a:txBody>
                    <a:bodyPr/>
                    <a:lstStyle/>
                    <a:p>
                      <a:pPr algn="ctr"/>
                      <a:r>
                        <a:rPr lang="en-US" dirty="0">
                          <a:latin typeface="Times New Roman" panose="02020603050405020304" pitchFamily="18" charset="0"/>
                          <a:cs typeface="Times New Roman" panose="02020603050405020304" pitchFamily="18" charset="0"/>
                        </a:rPr>
                        <a:t>15-February-2022</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55052099"/>
                  </a:ext>
                </a:extLst>
              </a:tr>
              <a:tr h="674303">
                <a:tc vMerge="1">
                  <a:txBody>
                    <a:bodyPr/>
                    <a:lstStyle/>
                    <a:p>
                      <a:endParaRPr lang="en-IN"/>
                    </a:p>
                  </a:txBody>
                  <a:tcPr/>
                </a:tc>
                <a:tc vMerge="1">
                  <a:txBody>
                    <a:bodyPr/>
                    <a:lstStyle/>
                    <a:p>
                      <a:endParaRPr lang="en-IN"/>
                    </a:p>
                  </a:txBody>
                  <a:tcPr/>
                </a:tc>
                <a:tc>
                  <a:txBody>
                    <a:bodyPr/>
                    <a:lstStyle/>
                    <a:p>
                      <a:pPr algn="ctr"/>
                      <a:r>
                        <a:rPr lang="en-US" dirty="0">
                          <a:latin typeface="Times New Roman" panose="02020603050405020304" pitchFamily="18" charset="0"/>
                          <a:cs typeface="Times New Roman" panose="02020603050405020304" pitchFamily="18" charset="0"/>
                        </a:rPr>
                        <a:t>Track Sensor and Objects (2 Weeks)</a:t>
                      </a:r>
                      <a:endParaRPr lang="en-IN"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extLst>
                  <a:ext uri="{0D108BD9-81ED-4DB2-BD59-A6C34878D82A}">
                    <a16:rowId xmlns:a16="http://schemas.microsoft.com/office/drawing/2014/main" val="1153184410"/>
                  </a:ext>
                </a:extLst>
              </a:tr>
              <a:tr h="493776">
                <a:tc vMerge="1">
                  <a:txBody>
                    <a:bodyPr/>
                    <a:lstStyle/>
                    <a:p>
                      <a:endParaRPr lang="en-IN"/>
                    </a:p>
                  </a:txBody>
                  <a:tcPr/>
                </a:tc>
                <a:tc vMerge="1">
                  <a:txBody>
                    <a:bodyPr/>
                    <a:lstStyle/>
                    <a:p>
                      <a:endParaRPr lang="en-IN"/>
                    </a:p>
                  </a:txBody>
                  <a:tcPr/>
                </a:tc>
                <a:tc>
                  <a:txBody>
                    <a:bodyPr/>
                    <a:lstStyle/>
                    <a:p>
                      <a:pPr algn="ctr"/>
                      <a:r>
                        <a:rPr lang="en-US" dirty="0">
                          <a:latin typeface="Times New Roman" panose="02020603050405020304" pitchFamily="18" charset="0"/>
                          <a:cs typeface="Times New Roman" panose="02020603050405020304" pitchFamily="18" charset="0"/>
                        </a:rPr>
                        <a:t>Fuse models (1 Week)</a:t>
                      </a:r>
                      <a:endParaRPr lang="en-IN" dirty="0">
                        <a:latin typeface="Times New Roman" panose="02020603050405020304" pitchFamily="18" charset="0"/>
                        <a:cs typeface="Times New Roman" panose="02020603050405020304" pitchFamily="18" charset="0"/>
                      </a:endParaRPr>
                    </a:p>
                  </a:txBody>
                  <a:tcPr/>
                </a:tc>
                <a:tc vMerge="1">
                  <a:txBody>
                    <a:bodyPr/>
                    <a:lstStyle/>
                    <a:p>
                      <a:endParaRPr lang="en-IN"/>
                    </a:p>
                  </a:txBody>
                  <a:tcPr/>
                </a:tc>
                <a:extLst>
                  <a:ext uri="{0D108BD9-81ED-4DB2-BD59-A6C34878D82A}">
                    <a16:rowId xmlns:a16="http://schemas.microsoft.com/office/drawing/2014/main" val="2414622883"/>
                  </a:ext>
                </a:extLst>
              </a:tr>
            </a:tbl>
          </a:graphicData>
        </a:graphic>
      </p:graphicFrame>
      <p:pic>
        <p:nvPicPr>
          <p:cNvPr id="3" name="Picture 2">
            <a:extLst>
              <a:ext uri="{FF2B5EF4-FFF2-40B4-BE49-F238E27FC236}">
                <a16:creationId xmlns:a16="http://schemas.microsoft.com/office/drawing/2014/main" id="{791B8A1D-3C26-4ABC-A74E-6C4D97F263B5}"/>
              </a:ext>
            </a:extLst>
          </p:cNvPr>
          <p:cNvPicPr>
            <a:picLocks noChangeAspect="1"/>
          </p:cNvPicPr>
          <p:nvPr/>
        </p:nvPicPr>
        <p:blipFill>
          <a:blip r:embed="rId2"/>
          <a:stretch>
            <a:fillRect/>
          </a:stretch>
        </p:blipFill>
        <p:spPr>
          <a:xfrm>
            <a:off x="10294414" y="192294"/>
            <a:ext cx="1670449" cy="560881"/>
          </a:xfrm>
          <a:prstGeom prst="rect">
            <a:avLst/>
          </a:prstGeom>
        </p:spPr>
      </p:pic>
    </p:spTree>
    <p:extLst>
      <p:ext uri="{BB962C8B-B14F-4D97-AF65-F5344CB8AC3E}">
        <p14:creationId xmlns:p14="http://schemas.microsoft.com/office/powerpoint/2010/main" val="1867235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4D53C-B8EA-4A9D-AF9F-369B419C253C}"/>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PLAN FOR NEXT SEMESTER</a:t>
            </a:r>
            <a:endParaRPr lang="en-IN" sz="36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1FA78C-B126-4F94-B107-1DB55AF3CB71}"/>
              </a:ext>
            </a:extLst>
          </p:cNvPr>
          <p:cNvSpPr>
            <a:spLocks noGrp="1"/>
          </p:cNvSpPr>
          <p:nvPr>
            <p:ph idx="1"/>
          </p:nvPr>
        </p:nvSpPr>
        <p:spPr/>
        <p:txBody>
          <a:bodyPr/>
          <a:lstStyle/>
          <a:p>
            <a:r>
              <a:rPr lang="en-US" dirty="0"/>
              <a:t>Improvising SLAM Algorithm process.</a:t>
            </a:r>
          </a:p>
          <a:p>
            <a:r>
              <a:rPr lang="en-US" dirty="0"/>
              <a:t>Process the proposed design in various 3D datasets (Google AI/meta AR/ NYU model </a:t>
            </a:r>
            <a:r>
              <a:rPr lang="en-US" dirty="0" err="1"/>
              <a:t>etc</a:t>
            </a:r>
            <a:r>
              <a:rPr lang="en-US" dirty="0"/>
              <a:t>).</a:t>
            </a:r>
          </a:p>
          <a:p>
            <a:r>
              <a:rPr lang="en-US" dirty="0"/>
              <a:t>Verifying the proposed design with customized dataset.</a:t>
            </a:r>
          </a:p>
          <a:p>
            <a:r>
              <a:rPr lang="en-US" dirty="0"/>
              <a:t>Improving acceleration of training on GPU/CPU.</a:t>
            </a:r>
          </a:p>
          <a:p>
            <a:r>
              <a:rPr lang="en-US" dirty="0"/>
              <a:t>Verifying the 3D mapping with multiple moving objects on scene with moving sensor and analyzing the results.</a:t>
            </a:r>
          </a:p>
          <a:p>
            <a:r>
              <a:rPr lang="en-US" dirty="0"/>
              <a:t>Comparison of proposed design with similar SLAM Designs.</a:t>
            </a:r>
          </a:p>
          <a:p>
            <a:endParaRPr lang="en-US" dirty="0"/>
          </a:p>
          <a:p>
            <a:endParaRPr lang="en-IN" dirty="0"/>
          </a:p>
        </p:txBody>
      </p:sp>
      <p:pic>
        <p:nvPicPr>
          <p:cNvPr id="4" name="Picture 3">
            <a:extLst>
              <a:ext uri="{FF2B5EF4-FFF2-40B4-BE49-F238E27FC236}">
                <a16:creationId xmlns:a16="http://schemas.microsoft.com/office/drawing/2014/main" id="{90CCCEF1-BF20-4C11-8FBB-14B389B70841}"/>
              </a:ext>
            </a:extLst>
          </p:cNvPr>
          <p:cNvPicPr>
            <a:picLocks noChangeAspect="1"/>
          </p:cNvPicPr>
          <p:nvPr/>
        </p:nvPicPr>
        <p:blipFill>
          <a:blip r:embed="rId2"/>
          <a:stretch>
            <a:fillRect/>
          </a:stretch>
        </p:blipFill>
        <p:spPr>
          <a:xfrm>
            <a:off x="10196760" y="230188"/>
            <a:ext cx="1670449" cy="560881"/>
          </a:xfrm>
          <a:prstGeom prst="rect">
            <a:avLst/>
          </a:prstGeom>
        </p:spPr>
      </p:pic>
    </p:spTree>
    <p:extLst>
      <p:ext uri="{BB962C8B-B14F-4D97-AF65-F5344CB8AC3E}">
        <p14:creationId xmlns:p14="http://schemas.microsoft.com/office/powerpoint/2010/main" val="20413414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33FF0-19CF-4F4A-8E6D-906910DB17BC}"/>
              </a:ext>
            </a:extLst>
          </p:cNvPr>
          <p:cNvSpPr>
            <a:spLocks noGrp="1"/>
          </p:cNvSpPr>
          <p:nvPr>
            <p:ph type="title"/>
          </p:nvPr>
        </p:nvSpPr>
        <p:spPr/>
        <p:txBody>
          <a:bodyPr>
            <a:normAutofit/>
          </a:bodyPr>
          <a:lstStyle/>
          <a:p>
            <a:pPr algn="ctr"/>
            <a:r>
              <a:rPr lang="en-US" sz="3600" u="sng" dirty="0">
                <a:latin typeface="Times New Roman" panose="02020603050405020304" pitchFamily="18" charset="0"/>
                <a:cs typeface="Times New Roman" panose="02020603050405020304" pitchFamily="18" charset="0"/>
              </a:rPr>
              <a:t>REFERENCES</a:t>
            </a:r>
            <a:endParaRPr lang="en-IN" sz="3600"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252A8E-C688-499A-B8CB-BFDD1A8B69E8}"/>
              </a:ext>
            </a:extLst>
          </p:cNvPr>
          <p:cNvSpPr>
            <a:spLocks noGrp="1"/>
          </p:cNvSpPr>
          <p:nvPr>
            <p:ph idx="1"/>
          </p:nvPr>
        </p:nvSpPr>
        <p:spPr/>
        <p:txBody>
          <a:bodyPr>
            <a:normAutofit/>
          </a:bodyPr>
          <a:lstStyle/>
          <a:p>
            <a:pPr marL="0" indent="0" algn="l">
              <a:buNone/>
            </a:pPr>
            <a:r>
              <a:rPr lang="en-IN" sz="1800" i="0" u="none" strike="noStrike" baseline="0" dirty="0">
                <a:latin typeface="Times New Roman" panose="02020603050405020304" pitchFamily="18" charset="0"/>
                <a:cs typeface="Times New Roman" panose="02020603050405020304" pitchFamily="18" charset="0"/>
                <a:hlinkClick r:id="rId2" action="ppaction://hlinksldjump"/>
              </a:rPr>
              <a:t>[1] </a:t>
            </a:r>
            <a:r>
              <a:rPr lang="en-IN" sz="1800" i="0" u="none" strike="noStrike" baseline="0" dirty="0">
                <a:latin typeface="Times New Roman" panose="02020603050405020304" pitchFamily="18" charset="0"/>
                <a:cs typeface="Times New Roman" panose="02020603050405020304" pitchFamily="18" charset="0"/>
              </a:rPr>
              <a:t>Gijs </a:t>
            </a:r>
            <a:r>
              <a:rPr lang="en-IN" sz="1800" i="0" u="none" strike="noStrike" baseline="0" dirty="0" err="1">
                <a:latin typeface="Times New Roman" panose="02020603050405020304" pitchFamily="18" charset="0"/>
                <a:cs typeface="Times New Roman" panose="02020603050405020304" pitchFamily="18" charset="0"/>
              </a:rPr>
              <a:t>Dubbelman</a:t>
            </a:r>
            <a:r>
              <a:rPr lang="en-IN" sz="1800" i="1" u="none" strike="noStrike" baseline="0" dirty="0">
                <a:latin typeface="Times New Roman" panose="02020603050405020304" pitchFamily="18" charset="0"/>
                <a:cs typeface="Times New Roman" panose="02020603050405020304" pitchFamily="18" charset="0"/>
              </a:rPr>
              <a:t> and </a:t>
            </a:r>
            <a:r>
              <a:rPr lang="en-IN" sz="1800" i="0" u="none" strike="noStrike" baseline="0" dirty="0">
                <a:latin typeface="Times New Roman" panose="02020603050405020304" pitchFamily="18" charset="0"/>
                <a:cs typeface="Times New Roman" panose="02020603050405020304" pitchFamily="18" charset="0"/>
              </a:rPr>
              <a:t>Brett Browning,</a:t>
            </a:r>
            <a:r>
              <a:rPr lang="en-IN" sz="1800" dirty="0">
                <a:latin typeface="Times New Roman" panose="02020603050405020304" pitchFamily="18" charset="0"/>
                <a:cs typeface="Times New Roman" panose="02020603050405020304" pitchFamily="18" charset="0"/>
              </a:rPr>
              <a:t> “</a:t>
            </a:r>
            <a:r>
              <a:rPr lang="en-IN" sz="1800" i="0" u="none" strike="noStrike" baseline="0" dirty="0">
                <a:latin typeface="Times New Roman" panose="02020603050405020304" pitchFamily="18" charset="0"/>
                <a:cs typeface="Times New Roman" panose="02020603050405020304" pitchFamily="18" charset="0"/>
              </a:rPr>
              <a:t>COP-SLAM: Closed-Form Online Pose-Chain Optimization for Visual SLAM”</a:t>
            </a:r>
            <a:r>
              <a:rPr lang="en-IN" sz="1800" dirty="0">
                <a:latin typeface="Times New Roman" panose="02020603050405020304" pitchFamily="18" charset="0"/>
                <a:cs typeface="Times New Roman" panose="02020603050405020304" pitchFamily="18" charset="0"/>
              </a:rPr>
              <a:t>, </a:t>
            </a:r>
            <a:r>
              <a:rPr lang="en-US" sz="1800" i="0" u="none" strike="noStrike" baseline="0" dirty="0">
                <a:latin typeface="Times New Roman" panose="02020603050405020304" pitchFamily="18" charset="0"/>
                <a:cs typeface="Times New Roman" panose="02020603050405020304" pitchFamily="18" charset="0"/>
              </a:rPr>
              <a:t>IEEE TRANSACTIONS ON ROBOTICS, VOL. 31, NO. 5, OCTOBER 2015.</a:t>
            </a:r>
          </a:p>
          <a:p>
            <a:pPr marL="0" indent="0" algn="l">
              <a:buNone/>
            </a:pPr>
            <a:r>
              <a:rPr lang="en-US" sz="1800" b="0" dirty="0">
                <a:latin typeface="Times New Roman" panose="02020603050405020304" pitchFamily="18" charset="0"/>
                <a:cs typeface="Times New Roman" panose="02020603050405020304" pitchFamily="18" charset="0"/>
                <a:hlinkClick r:id="rId2" action="ppaction://hlinksldjump"/>
              </a:rPr>
              <a:t>[2] </a:t>
            </a:r>
            <a:r>
              <a:rPr lang="en-IN" sz="1800" b="0" i="0" u="none" strike="noStrike" baseline="0" dirty="0">
                <a:latin typeface="Times New Roman" panose="02020603050405020304" pitchFamily="18" charset="0"/>
                <a:cs typeface="Times New Roman" panose="02020603050405020304" pitchFamily="18" charset="0"/>
              </a:rPr>
              <a:t>Renato F. Salas-Moreno</a:t>
            </a:r>
            <a:r>
              <a:rPr lang="en-IN" sz="1800" dirty="0">
                <a:latin typeface="Times New Roman" panose="02020603050405020304" pitchFamily="18" charset="0"/>
                <a:cs typeface="Times New Roman" panose="02020603050405020304" pitchFamily="18" charset="0"/>
              </a:rPr>
              <a:t>,</a:t>
            </a:r>
            <a:r>
              <a:rPr lang="en-IN" sz="1800" b="0" i="0" u="none" strike="noStrike" baseline="0" dirty="0">
                <a:latin typeface="Times New Roman" panose="02020603050405020304" pitchFamily="18" charset="0"/>
                <a:cs typeface="Times New Roman" panose="02020603050405020304" pitchFamily="18" charset="0"/>
              </a:rPr>
              <a:t> Richard A. Newcombe</a:t>
            </a:r>
            <a:r>
              <a:rPr lang="en-IN" sz="180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Hauke</a:t>
            </a:r>
            <a:r>
              <a:rPr lang="en-IN" sz="1800" b="0" i="0" u="none" strike="noStrike" baseline="0" dirty="0">
                <a:latin typeface="Times New Roman" panose="02020603050405020304" pitchFamily="18" charset="0"/>
                <a:cs typeface="Times New Roman" panose="02020603050405020304" pitchFamily="18" charset="0"/>
              </a:rPr>
              <a:t> </a:t>
            </a:r>
            <a:r>
              <a:rPr lang="en-IN" sz="1800" b="0" i="0" u="none" strike="noStrike" baseline="0" dirty="0" err="1">
                <a:latin typeface="Times New Roman" panose="02020603050405020304" pitchFamily="18" charset="0"/>
                <a:cs typeface="Times New Roman" panose="02020603050405020304" pitchFamily="18" charset="0"/>
              </a:rPr>
              <a:t>Strasdat</a:t>
            </a:r>
            <a:r>
              <a:rPr lang="en-IN" sz="1800" dirty="0">
                <a:latin typeface="Times New Roman" panose="02020603050405020304" pitchFamily="18" charset="0"/>
                <a:cs typeface="Times New Roman" panose="02020603050405020304" pitchFamily="18" charset="0"/>
              </a:rPr>
              <a:t>,</a:t>
            </a:r>
            <a:r>
              <a:rPr lang="en-IN" sz="1800" b="0" i="0" u="none" strike="noStrike" baseline="0" dirty="0">
                <a:latin typeface="Times New Roman" panose="02020603050405020304" pitchFamily="18" charset="0"/>
                <a:cs typeface="Times New Roman" panose="02020603050405020304" pitchFamily="18" charset="0"/>
              </a:rPr>
              <a:t> Paul H. J. Kelly</a:t>
            </a:r>
            <a:r>
              <a:rPr lang="en-IN" sz="1800" dirty="0">
                <a:latin typeface="Times New Roman" panose="02020603050405020304" pitchFamily="18" charset="0"/>
                <a:cs typeface="Times New Roman" panose="02020603050405020304" pitchFamily="18" charset="0"/>
              </a:rPr>
              <a:t> and </a:t>
            </a:r>
            <a:r>
              <a:rPr lang="en-IN" sz="1800" b="0" i="0" u="none" strike="noStrike" baseline="0" dirty="0">
                <a:latin typeface="Times New Roman" panose="02020603050405020304" pitchFamily="18" charset="0"/>
                <a:cs typeface="Times New Roman" panose="02020603050405020304" pitchFamily="18" charset="0"/>
              </a:rPr>
              <a:t>Andrew J. Davison, “</a:t>
            </a:r>
            <a:r>
              <a:rPr lang="en-US" sz="1800" b="0" i="0" u="none" strike="noStrike" baseline="0" dirty="0">
                <a:latin typeface="Times New Roman" panose="02020603050405020304" pitchFamily="18" charset="0"/>
                <a:cs typeface="Times New Roman" panose="02020603050405020304" pitchFamily="18" charset="0"/>
              </a:rPr>
              <a:t>SLAM++: Simultaneous </a:t>
            </a:r>
            <a:r>
              <a:rPr lang="en-US" sz="1800" b="0" i="0" u="none" strike="noStrike" baseline="0" dirty="0" err="1">
                <a:latin typeface="Times New Roman" panose="02020603050405020304" pitchFamily="18" charset="0"/>
                <a:cs typeface="Times New Roman" panose="02020603050405020304" pitchFamily="18" charset="0"/>
              </a:rPr>
              <a:t>Localisation</a:t>
            </a:r>
            <a:r>
              <a:rPr lang="en-US" sz="1800" b="0" i="0" u="none" strike="noStrike" baseline="0" dirty="0">
                <a:latin typeface="Times New Roman" panose="02020603050405020304" pitchFamily="18" charset="0"/>
                <a:cs typeface="Times New Roman" panose="02020603050405020304" pitchFamily="18" charset="0"/>
              </a:rPr>
              <a:t> and Mapping at the Level of Objects</a:t>
            </a:r>
            <a:r>
              <a:rPr lang="en-IN" sz="1800" dirty="0">
                <a:latin typeface="Times New Roman" panose="02020603050405020304" pitchFamily="18" charset="0"/>
                <a:cs typeface="Times New Roman" panose="02020603050405020304" pitchFamily="18" charset="0"/>
              </a:rPr>
              <a:t>”, </a:t>
            </a:r>
            <a:r>
              <a:rPr lang="en-US" sz="1800" b="0" i="0" u="none" strike="noStrike" baseline="0" dirty="0">
                <a:latin typeface="Times New Roman" panose="02020603050405020304" pitchFamily="18" charset="0"/>
                <a:cs typeface="Times New Roman" panose="02020603050405020304" pitchFamily="18" charset="0"/>
              </a:rPr>
              <a:t>2013 IEEE Conference on Computer Vision and Pattern Recognition.</a:t>
            </a:r>
          </a:p>
          <a:p>
            <a:pPr marL="0" indent="0" algn="l">
              <a:buNone/>
            </a:pPr>
            <a:r>
              <a:rPr lang="en-IN" sz="1800" b="0" i="0" u="none" strike="noStrike" baseline="0" dirty="0">
                <a:latin typeface="Times New Roman" panose="02020603050405020304" pitchFamily="18" charset="0"/>
                <a:cs typeface="Times New Roman" panose="02020603050405020304" pitchFamily="18" charset="0"/>
                <a:hlinkClick r:id="rId2" action="ppaction://hlinksldjump"/>
              </a:rPr>
              <a:t>[3] </a:t>
            </a:r>
            <a:r>
              <a:rPr lang="en-IN" sz="1800" b="0" i="0" u="none" strike="noStrike" baseline="0" dirty="0">
                <a:latin typeface="Times New Roman" panose="02020603050405020304" pitchFamily="18" charset="0"/>
                <a:cs typeface="Times New Roman" panose="02020603050405020304" pitchFamily="18" charset="0"/>
              </a:rPr>
              <a:t>Xin Yang, </a:t>
            </a:r>
            <a:r>
              <a:rPr lang="en-IN" sz="1800" b="0" i="0" u="none" strike="noStrike" baseline="0" dirty="0" err="1">
                <a:latin typeface="Times New Roman" panose="02020603050405020304" pitchFamily="18" charset="0"/>
                <a:cs typeface="Times New Roman" panose="02020603050405020304" pitchFamily="18" charset="0"/>
              </a:rPr>
              <a:t>Zikang</a:t>
            </a:r>
            <a:r>
              <a:rPr lang="en-IN" sz="1800" b="0" i="0" u="none" strike="noStrike" baseline="0" dirty="0">
                <a:latin typeface="Times New Roman" panose="02020603050405020304" pitchFamily="18" charset="0"/>
                <a:cs typeface="Times New Roman" panose="02020603050405020304" pitchFamily="18" charset="0"/>
              </a:rPr>
              <a:t> Yuan, </a:t>
            </a:r>
            <a:r>
              <a:rPr lang="en-IN" sz="1800" b="0" i="0" u="none" strike="noStrike" baseline="0" dirty="0" err="1">
                <a:latin typeface="Times New Roman" panose="02020603050405020304" pitchFamily="18" charset="0"/>
                <a:cs typeface="Times New Roman" panose="02020603050405020304" pitchFamily="18" charset="0"/>
              </a:rPr>
              <a:t>Dongfu</a:t>
            </a:r>
            <a:r>
              <a:rPr lang="en-IN" sz="1800" b="0" i="0" u="none" strike="noStrike" baseline="0" dirty="0">
                <a:latin typeface="Times New Roman" panose="02020603050405020304" pitchFamily="18" charset="0"/>
                <a:cs typeface="Times New Roman" panose="02020603050405020304" pitchFamily="18" charset="0"/>
              </a:rPr>
              <a:t> Zhu, Cheng Chi, </a:t>
            </a:r>
            <a:r>
              <a:rPr lang="en-IN" sz="1800" b="0" i="0" u="none" strike="noStrike" baseline="0" dirty="0" err="1">
                <a:latin typeface="Times New Roman" panose="02020603050405020304" pitchFamily="18" charset="0"/>
                <a:cs typeface="Times New Roman" panose="02020603050405020304" pitchFamily="18" charset="0"/>
              </a:rPr>
              <a:t>Kun</a:t>
            </a:r>
            <a:r>
              <a:rPr lang="en-IN" sz="1800" b="0" i="0" u="none" strike="noStrike" baseline="0" dirty="0">
                <a:latin typeface="Times New Roman" panose="02020603050405020304" pitchFamily="18" charset="0"/>
                <a:cs typeface="Times New Roman" panose="02020603050405020304" pitchFamily="18" charset="0"/>
              </a:rPr>
              <a:t> Li and </a:t>
            </a:r>
            <a:r>
              <a:rPr lang="en-IN" sz="1800" b="0" i="0" u="none" strike="noStrike" baseline="0" dirty="0" err="1">
                <a:latin typeface="Times New Roman" panose="02020603050405020304" pitchFamily="18" charset="0"/>
                <a:cs typeface="Times New Roman" panose="02020603050405020304" pitchFamily="18" charset="0"/>
              </a:rPr>
              <a:t>Chunyuan</a:t>
            </a:r>
            <a:r>
              <a:rPr lang="en-IN" sz="1800" b="0" i="0" u="none" strike="noStrike" baseline="0" dirty="0">
                <a:latin typeface="Times New Roman" panose="02020603050405020304" pitchFamily="18" charset="0"/>
                <a:cs typeface="Times New Roman" panose="02020603050405020304" pitchFamily="18" charset="0"/>
              </a:rPr>
              <a:t> Liao, ”</a:t>
            </a:r>
            <a:r>
              <a:rPr lang="en-US" sz="1800" b="0" i="0" u="none" strike="noStrike" baseline="0" dirty="0">
                <a:latin typeface="Times New Roman" panose="02020603050405020304" pitchFamily="18" charset="0"/>
                <a:cs typeface="Times New Roman" panose="02020603050405020304" pitchFamily="18" charset="0"/>
              </a:rPr>
              <a:t>Robust and Efficient RGB-D SLAM in Dynamic </a:t>
            </a:r>
            <a:r>
              <a:rPr lang="en-IN" sz="1800" b="0" i="0" u="none" strike="noStrike" baseline="0" dirty="0">
                <a:latin typeface="Times New Roman" panose="02020603050405020304" pitchFamily="18" charset="0"/>
                <a:cs typeface="Times New Roman" panose="02020603050405020304" pitchFamily="18" charset="0"/>
              </a:rPr>
              <a:t>Environments”, TMM.2020.3038323, IEEE Transactions on Multimedia.</a:t>
            </a:r>
            <a:endParaRPr lang="en-IN" sz="18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endParaRPr>
          </a:p>
          <a:p>
            <a:r>
              <a:rPr lang="en-IN" sz="1800" dirty="0">
                <a:solidFill>
                  <a:srgbClr val="0563C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https://www.pyimagesearch.com/2021/02/01/opencv-histogram-equalization-and-adaptive-histogram-equalization-clahe/</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hlinkClick r:id="rId4"/>
              </a:rPr>
              <a:t>https://scikitimage.org/docs/dev/auto_examples/features_detection/plot_blob.html#sphx-glr-download-auto-examples-features-detection-plot-blob-py</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hlinkClick r:id="rId5"/>
              </a:rPr>
              <a:t>https://ai.facebook.com/blog/recognizing-3d-spaces-without-spatial-labels/</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hlinkClick r:id="rId6"/>
              </a:rPr>
              <a:t>https://ai.googleblog.com/2021/02/3d-scene-understanding-with-tensorflow.html</a:t>
            </a:r>
            <a:endParaRPr lang="en-IN" sz="18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p:txBody>
      </p:sp>
      <p:pic>
        <p:nvPicPr>
          <p:cNvPr id="4" name="Picture 3">
            <a:extLst>
              <a:ext uri="{FF2B5EF4-FFF2-40B4-BE49-F238E27FC236}">
                <a16:creationId xmlns:a16="http://schemas.microsoft.com/office/drawing/2014/main" id="{AABCE14A-23A2-4842-8888-AC1967A59EE5}"/>
              </a:ext>
            </a:extLst>
          </p:cNvPr>
          <p:cNvPicPr>
            <a:picLocks noChangeAspect="1"/>
          </p:cNvPicPr>
          <p:nvPr/>
        </p:nvPicPr>
        <p:blipFill>
          <a:blip r:embed="rId7"/>
          <a:stretch>
            <a:fillRect/>
          </a:stretch>
        </p:blipFill>
        <p:spPr>
          <a:xfrm>
            <a:off x="10267781" y="120156"/>
            <a:ext cx="1670449" cy="560881"/>
          </a:xfrm>
          <a:prstGeom prst="rect">
            <a:avLst/>
          </a:prstGeom>
        </p:spPr>
      </p:pic>
    </p:spTree>
    <p:extLst>
      <p:ext uri="{BB962C8B-B14F-4D97-AF65-F5344CB8AC3E}">
        <p14:creationId xmlns:p14="http://schemas.microsoft.com/office/powerpoint/2010/main" val="4193849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CCAB84-E27B-408F-8F0E-1F93B0D4C276}"/>
              </a:ext>
            </a:extLst>
          </p:cNvPr>
          <p:cNvSpPr>
            <a:spLocks noGrp="1"/>
          </p:cNvSpPr>
          <p:nvPr>
            <p:ph type="title"/>
          </p:nvPr>
        </p:nvSpPr>
        <p:spPr>
          <a:xfrm>
            <a:off x="1143001" y="2571605"/>
            <a:ext cx="9905998" cy="1478570"/>
          </a:xfrm>
        </p:spPr>
        <p:txBody>
          <a:bodyPr>
            <a:normAutofit/>
          </a:bodyPr>
          <a:lstStyle/>
          <a:p>
            <a:pPr algn="ctr"/>
            <a:r>
              <a:rPr lang="en-US" dirty="0">
                <a:latin typeface="Algerian" panose="04020705040A02060702" pitchFamily="82" charset="0"/>
              </a:rPr>
              <a:t>THANK YOU</a:t>
            </a:r>
            <a:endParaRPr lang="en-IN" dirty="0">
              <a:latin typeface="Algerian" panose="04020705040A02060702" pitchFamily="82" charset="0"/>
            </a:endParaRPr>
          </a:p>
        </p:txBody>
      </p:sp>
      <p:pic>
        <p:nvPicPr>
          <p:cNvPr id="2" name="Picture 1">
            <a:extLst>
              <a:ext uri="{FF2B5EF4-FFF2-40B4-BE49-F238E27FC236}">
                <a16:creationId xmlns:a16="http://schemas.microsoft.com/office/drawing/2014/main" id="{5F7814C1-4946-4E3B-9205-B22FB2A5B458}"/>
              </a:ext>
            </a:extLst>
          </p:cNvPr>
          <p:cNvPicPr>
            <a:picLocks noChangeAspect="1"/>
          </p:cNvPicPr>
          <p:nvPr/>
        </p:nvPicPr>
        <p:blipFill>
          <a:blip r:embed="rId2"/>
          <a:stretch>
            <a:fillRect/>
          </a:stretch>
        </p:blipFill>
        <p:spPr>
          <a:xfrm>
            <a:off x="10321047" y="236684"/>
            <a:ext cx="1670449" cy="560881"/>
          </a:xfrm>
          <a:prstGeom prst="rect">
            <a:avLst/>
          </a:prstGeom>
        </p:spPr>
      </p:pic>
    </p:spTree>
    <p:extLst>
      <p:ext uri="{BB962C8B-B14F-4D97-AF65-F5344CB8AC3E}">
        <p14:creationId xmlns:p14="http://schemas.microsoft.com/office/powerpoint/2010/main" val="3897668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TotalTime>
  <Words>1666</Words>
  <Application>Microsoft Office PowerPoint</Application>
  <PresentationFormat>Widescreen</PresentationFormat>
  <Paragraphs>90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Algerian</vt:lpstr>
      <vt:lpstr>Arial</vt:lpstr>
      <vt:lpstr>Calibri</vt:lpstr>
      <vt:lpstr>Calibri Light</vt:lpstr>
      <vt:lpstr>charter</vt:lpstr>
      <vt:lpstr>Lato</vt:lpstr>
      <vt:lpstr>Times New Roman</vt:lpstr>
      <vt:lpstr>Office Theme</vt:lpstr>
      <vt:lpstr>M.TECH MAJOR PROJECT REVIEW 1 (MVE33)</vt:lpstr>
      <vt:lpstr>INTRODUCTION</vt:lpstr>
      <vt:lpstr>CURRENT STATE OF THE ART</vt:lpstr>
      <vt:lpstr>PROBLEM STATEMENT</vt:lpstr>
      <vt:lpstr>LITERATURE REVIEW</vt:lpstr>
      <vt:lpstr>BLOCK DIAGRAM</vt:lpstr>
      <vt:lpstr>METHODOLOGY</vt:lpstr>
      <vt:lpstr>PowerPoint Presentation</vt:lpstr>
      <vt:lpstr>OBTAINED EQUALIZATION OUTPUTS FOR IMAGE INPUTS:</vt:lpstr>
      <vt:lpstr>PowerPoint Presentation</vt:lpstr>
      <vt:lpstr>BLOB DETECTION</vt:lpstr>
      <vt:lpstr>PowerPoint Presentation</vt:lpstr>
      <vt:lpstr>TIMELINE</vt:lpstr>
      <vt:lpstr>PLAN FOR NEXT SEMESTER</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MAJOR PROJECT REVIEW 1</dc:title>
  <dc:creator>naveen h</dc:creator>
  <cp:lastModifiedBy>naveen h</cp:lastModifiedBy>
  <cp:revision>19</cp:revision>
  <dcterms:created xsi:type="dcterms:W3CDTF">2021-12-17T01:50:05Z</dcterms:created>
  <dcterms:modified xsi:type="dcterms:W3CDTF">2021-12-17T10:25:03Z</dcterms:modified>
</cp:coreProperties>
</file>